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custom"/>
  <p:notesSz cx="12192000" cy="6858000"/>
  <p:embeddedFontLst>
    <p:embeddedFont>
      <p:font typeface="MiSans" charset="-122" pitchFamily="34"/>
      <p:regular r:id="rId23"/>
    </p:embeddedFont>
  </p:embeddedFontLst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font" Target="fonts/font1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hyperlink" Target="https://martinfowler.com/articles/exploring-gen-ai/sdd-3-tools.html" TargetMode="External"/><Relationship Id="rId4" Type="http://schemas.openxmlformats.org/officeDocument/2006/relationships/hyperlink" Target="https://specdriven.com/landscape/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pecdriven.com/landscape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pecdriven.com/landscape/" TargetMode="External"/><Relationship Id="rId3" Type="http://schemas.openxmlformats.org/officeDocument/2006/relationships/hyperlink" Target="https://martinfowler.com/articles/exploring-gen-ai/sdd-3-tools.html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pecdriven.com/landscape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pecdriven.com/landscape/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pecdriven.com/landscape/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Relationship Id="rId3" Type="http://schemas.openxmlformats.org/officeDocument/2006/relationships/hyperlink" Target="https://specdriven.com/landscape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pecdriven.com/landscape/" TargetMode="Externa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pecdriven.com/landscape/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pecdriven.com/landscape/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rtinfowler.com/articles/exploring-gen-ai/sdd-3-tools.html" TargetMode="External"/><Relationship Id="rId3" Type="http://schemas.openxmlformats.org/officeDocument/2006/relationships/hyperlink" Target="https://specdriven.com/landscape/" TargetMode="Externa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14986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33B5E7"/>
                </a:solidFill>
                <a:latin typeface="MiSans"/>
                <a:ea typeface="MiSans"/>
              </a:rPr>
              <a:t>AI 工程实践 · 研发团队入门系列</a:t>
            </a:r>
            <a:endParaRPr lang="en-US" sz="1100" noProof="1"/>
          </a:p>
        </p:txBody>
      </p:sp>
      <p:sp>
        <p:nvSpPr>
          <p:cNvPr id="3" name="accent-bar"/>
          <p:cNvSpPr/>
          <p:nvPr/>
        </p:nvSpPr>
        <p:spPr>
          <a:xfrm>
            <a:off x="762000" y="1930400"/>
            <a:ext cx="584200" cy="38100"/>
          </a:xfrm>
          <a:prstGeom prst="rect">
            <a:avLst/>
          </a:prstGeom>
          <a:solidFill>
            <a:srgbClr val="33B5E7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62000" y="2235200"/>
            <a:ext cx="990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4000" noProof="1" b="1" spc="200" kern="0">
                <a:solidFill>
                  <a:srgbClr val="0A2240"/>
                </a:solidFill>
                <a:latin typeface="MiSans"/>
                <a:ea typeface="MiSans"/>
              </a:rPr>
              <a:t>规格驱动开发（SDD）入门</a:t>
            </a:r>
            <a:endParaRPr lang="en-US" sz="4000" noProof="1"/>
          </a:p>
          <a:p>
            <a:pPr>
              <a:lnSpc>
                <a:spcPct val="135000"/>
              </a:lnSpc>
            </a:pPr>
            <a:r>
              <a:rPr lang="en-US" sz="1900" noProof="1" b="1" spc="200" kern="0">
                <a:solidFill>
                  <a:srgbClr val="33B5E7"/>
                </a:solidFill>
                <a:latin typeface="MiSans"/>
                <a:ea typeface="MiSans"/>
              </a:rPr>
              <a:t>让 Spec 成为 AI 时代研发的核心资产</a:t>
            </a:r>
            <a:endParaRPr lang="en-US" sz="4000" noProof="1"/>
          </a:p>
        </p:txBody>
      </p:sp>
      <p:sp>
        <p:nvSpPr>
          <p:cNvPr id="5" name="sub"/>
          <p:cNvSpPr txBox="1"/>
          <p:nvPr/>
        </p:nvSpPr>
        <p:spPr>
          <a:xfrm>
            <a:off x="762000" y="3937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636569"/>
                </a:solidFill>
                <a:latin typeface="MiSans"/>
                <a:ea typeface="MiSans"/>
              </a:rPr>
              <a:t>基于 Thoughtworks / Martin Fowler 团队的 SDD 工具解析，以及 specdriven.com 社区工具全景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636569"/>
                </a:solidFill>
                <a:latin typeface="MiSans"/>
                <a:ea typeface="MiSans"/>
              </a:rPr>
              <a:t>面向开发、架构与技术负责人 · 约 20 分钟导学</a:t>
            </a:r>
            <a:endParaRPr lang="en-US" sz="1200" noProof="1"/>
          </a:p>
        </p:txBody>
      </p:sp>
      <p:sp>
        <p:nvSpPr>
          <p:cNvPr id="6" name="ref"/>
          <p:cNvSpPr txBox="1"/>
          <p:nvPr/>
        </p:nvSpPr>
        <p:spPr>
          <a:xfrm>
            <a:off x="762000" y="4927600"/>
            <a:ext cx="838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900" noProof="1">
                <a:solidFill>
                  <a:srgbClr val="636569"/>
                </a:solidFill>
                <a:latin typeface="MiSans"/>
                <a:ea typeface="MiSans"/>
              </a:rPr>
              <a:t>参考资料：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martinfowler.com — Understanding Spec-Driven-Development</a:t>
            </a:r>
            <a:r>
              <a:rPr lang="en-US" sz="900" noProof="1">
                <a:solidFill>
                  <a:srgbClr val="636569"/>
                </a:solidFill>
                <a:latin typeface="MiSans"/>
                <a:ea typeface="MiSans"/>
              </a:rPr>
              <a:t>（2025-10）　·　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specdriven.com — The Spec-Driven Tool Landscape</a:t>
            </a:r>
            <a:endParaRPr lang="en-US" sz="900" noProof="1"/>
          </a:p>
        </p:txBody>
      </p:sp>
      <p:pic>
        <p:nvPicPr>
          <p:cNvPr id="7" name="mark"/>
          <p:cNvPicPr/>
          <p:nvPr/>
        </p:nvPicPr>
        <p:blipFill>
          <a:blip r:embed="rId2"/>
          <a:stretch>
            <a:fillRect/>
          </a:stretch>
        </p:blipFill>
        <p:spPr>
          <a:xfrm>
            <a:off x="9423400" y="4025900"/>
            <a:ext cx="2527300" cy="2679700"/>
          </a:xfrm>
          <a:prstGeom prst="rect">
            <a:avLst/>
          </a:prstGeom>
          <a:ln>
            <a:noFill/>
          </a:ln>
        </p:spPr>
      </p:pic>
      <p:sp>
        <p:nvSpPr>
          <p:cNvPr id="8" name="footer"/>
          <p:cNvSpPr txBox="1"/>
          <p:nvPr/>
        </p:nvSpPr>
        <p:spPr>
          <a:xfrm>
            <a:off x="482600" y="6578600"/>
            <a:ext cx="3810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 Inspire  |  Confidential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学习路径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四个章节，从"听懂概念"到"开始试点"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11200" y="15494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36569"/>
                </a:solidFill>
                <a:latin typeface="MiSans"/>
                <a:ea typeface="MiSans"/>
              </a:rPr>
              <a:t>每章给出一个可检验的"毕业能力"——学完后你应当能够说清楚、做判断、动手做。</a:t>
            </a:r>
            <a:endParaRPr lang="en-US" sz="1200" noProof="1"/>
          </a:p>
        </p:txBody>
      </p:sp>
      <p:sp>
        <p:nvSpPr>
          <p:cNvPr id="6" name="n1"/>
          <p:cNvSpPr txBox="1"/>
          <p:nvPr/>
        </p:nvSpPr>
        <p:spPr>
          <a:xfrm>
            <a:off x="711200" y="21336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0A2240"/>
                </a:solidFill>
                <a:latin typeface="MiSans"/>
                <a:ea typeface="MiSans"/>
              </a:rPr>
              <a:t>01</a:t>
            </a:r>
            <a:endParaRPr lang="en-US" sz="2600" noProof="1"/>
          </a:p>
        </p:txBody>
      </p:sp>
      <p:sp>
        <p:nvSpPr>
          <p:cNvPr id="7" name="c1"/>
          <p:cNvSpPr txBox="1"/>
          <p:nvPr/>
        </p:nvSpPr>
        <p:spPr>
          <a:xfrm>
            <a:off x="1651000" y="2108200"/>
            <a:ext cx="9398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认识 SDD</a:t>
            </a: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　第 3–9 页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为什么需要 SDD、它的定义与三个层级、Spec 与 Memory Bank 的分工、历史渊源与"可执行性鸿沟"。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0A2240"/>
                </a:solidFill>
                <a:latin typeface="MiSans"/>
                <a:ea typeface="MiSans"/>
              </a:rPr>
              <a:t>毕业能力：能用三句话说清 SDD 是什么、不是什么。</a:t>
            </a:r>
            <a:endParaRPr lang="en-US" sz="1600" noProof="1"/>
          </a:p>
        </p:txBody>
      </p:sp>
      <p:sp>
        <p:nvSpPr>
          <p:cNvPr id="8" name="d1"/>
          <p:cNvSpPr/>
          <p:nvPr/>
        </p:nvSpPr>
        <p:spPr>
          <a:xfrm>
            <a:off x="711200" y="3124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327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0A2240"/>
                </a:solidFill>
                <a:latin typeface="MiSans"/>
                <a:ea typeface="MiSans"/>
              </a:rPr>
              <a:t>02</a:t>
            </a:r>
            <a:endParaRPr lang="en-US" sz="2600" noProof="1"/>
          </a:p>
        </p:txBody>
      </p:sp>
      <p:sp>
        <p:nvSpPr>
          <p:cNvPr id="10" name="c2"/>
          <p:cNvSpPr txBox="1"/>
          <p:nvPr/>
        </p:nvSpPr>
        <p:spPr>
          <a:xfrm>
            <a:off x="1651000" y="3302000"/>
            <a:ext cx="9398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工具全景</a:t>
            </a: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　第 10–15 页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12+ 工具总览与分类地图；Kiro、Spec Kit、OpenSpec、BMAD、Intent、Auto 各自的工作流与适用场景。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0A2240"/>
                </a:solidFill>
                <a:latin typeface="MiSans"/>
                <a:ea typeface="MiSans"/>
              </a:rPr>
              <a:t>毕业能力：面对一个具体场景，能说出该先试哪一类工具。</a:t>
            </a:r>
            <a:endParaRPr lang="en-US" sz="1600" noProof="1"/>
          </a:p>
        </p:txBody>
      </p:sp>
      <p:sp>
        <p:nvSpPr>
          <p:cNvPr id="11" name="d2"/>
          <p:cNvSpPr/>
          <p:nvPr/>
        </p:nvSpPr>
        <p:spPr>
          <a:xfrm>
            <a:off x="711200" y="43180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2" name="n3"/>
          <p:cNvSpPr txBox="1"/>
          <p:nvPr/>
        </p:nvSpPr>
        <p:spPr>
          <a:xfrm>
            <a:off x="711200" y="45212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0A2240"/>
                </a:solidFill>
                <a:latin typeface="MiSans"/>
                <a:ea typeface="MiSans"/>
              </a:rPr>
              <a:t>03</a:t>
            </a:r>
            <a:endParaRPr lang="en-US" sz="2600" noProof="1"/>
          </a:p>
        </p:txBody>
      </p:sp>
      <p:sp>
        <p:nvSpPr>
          <p:cNvPr id="13" name="c3"/>
          <p:cNvSpPr txBox="1"/>
          <p:nvPr/>
        </p:nvSpPr>
        <p:spPr>
          <a:xfrm>
            <a:off x="1651000" y="4495800"/>
            <a:ext cx="9398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冷静看待</a:t>
            </a: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　第 16–19 页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实践者的正反反馈、Fowler 提出的落地挑战，以及 MDD（模型驱动开发）留下的历史教训。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0A2240"/>
                </a:solidFill>
                <a:latin typeface="MiSans"/>
                <a:ea typeface="MiSans"/>
              </a:rPr>
              <a:t>毕业能力：能向团队客观陈述 SDD 的收益、代价与适用边界。</a:t>
            </a:r>
            <a:endParaRPr lang="en-US" sz="1600" noProof="1"/>
          </a:p>
        </p:txBody>
      </p:sp>
      <p:sp>
        <p:nvSpPr>
          <p:cNvPr id="14" name="d3"/>
          <p:cNvSpPr/>
          <p:nvPr/>
        </p:nvSpPr>
        <p:spPr>
          <a:xfrm>
            <a:off x="711200" y="55118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5" name="n4"/>
          <p:cNvSpPr txBox="1"/>
          <p:nvPr/>
        </p:nvSpPr>
        <p:spPr>
          <a:xfrm>
            <a:off x="711200" y="57150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0A2240"/>
                </a:solidFill>
                <a:latin typeface="MiSans"/>
                <a:ea typeface="MiSans"/>
              </a:rPr>
              <a:t>04</a:t>
            </a:r>
            <a:endParaRPr lang="en-US" sz="2600" noProof="1"/>
          </a:p>
        </p:txBody>
      </p:sp>
      <p:sp>
        <p:nvSpPr>
          <p:cNvPr id="16" name="c4"/>
          <p:cNvSpPr txBox="1"/>
          <p:nvPr/>
        </p:nvSpPr>
        <p:spPr>
          <a:xfrm>
            <a:off x="1651000" y="5689600"/>
            <a:ext cx="939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开始行动</a:t>
            </a: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　第 20 页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团队起步清单：从 spec-first 习惯、场景分级到 Memory Bank 建设与工具选型提示。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0A2240"/>
                </a:solidFill>
                <a:latin typeface="MiSans"/>
                <a:ea typeface="MiSans"/>
              </a:rPr>
              <a:t>毕业能力：选定一个真实场景，下周就能开始第一次 SDD 试点。</a:t>
            </a:r>
            <a:endParaRPr lang="en-US" sz="1600" noProof="1"/>
          </a:p>
        </p:txBody>
      </p:sp>
      <p:sp>
        <p:nvSpPr>
          <p:cNvPr id="17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02</a:t>
            </a:r>
            <a:endParaRPr lang="en-US" sz="800" noProof="1"/>
          </a:p>
        </p:txBody>
      </p:sp>
      <p:sp>
        <p:nvSpPr>
          <p:cNvPr id="18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 Inspire  |  Confidential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01 · 认识 SDD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为什么需要 SDD：AI 写码越快，"不确定性"越贵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pain-label"/>
          <p:cNvSpPr txBox="1"/>
          <p:nvPr/>
        </p:nvSpPr>
        <p:spPr>
          <a:xfrm>
            <a:off x="711200" y="1574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Vibe Coding 的三个典型痛点</a:t>
            </a:r>
            <a:endParaRPr lang="en-US" sz="1300" noProof="1"/>
          </a:p>
        </p:txBody>
      </p:sp>
      <p:sp>
        <p:nvSpPr>
          <p:cNvPr id="6" name="pain-list"/>
          <p:cNvSpPr txBox="1"/>
          <p:nvPr/>
        </p:nvSpPr>
        <p:spPr>
          <a:xfrm>
            <a:off x="711200" y="1905000"/>
            <a:ext cx="5334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提示词一次性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：需求只存在于聊天记录里，会话结束即丢失，下一个任务从零开始。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行为不可验证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：代码"看起来对"，但没有一份可对照的意图描述来判断它是否真的对。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演进无锚点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：功能上线后，当初"为什么这么做"无人知晓，维护只能靠考古代码。</a:t>
            </a:r>
            <a:endParaRPr lang="en-US" sz="1200" noProof="1"/>
          </a:p>
        </p:txBody>
      </p:sp>
      <p:sp>
        <p:nvSpPr>
          <p:cNvPr id="7" name="case-label"/>
          <p:cNvSpPr txBox="1"/>
          <p:nvPr/>
        </p:nvSpPr>
        <p:spPr>
          <a:xfrm>
            <a:off x="6604000" y="15748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一个对照实验：同一个应用，构建两次</a:t>
            </a:r>
            <a:endParaRPr lang="en-US" sz="1300" noProof="1"/>
          </a:p>
        </p:txBody>
      </p:sp>
      <p:sp>
        <p:nvSpPr>
          <p:cNvPr id="8" name="case-box"/>
          <p:cNvSpPr/>
          <p:nvPr/>
        </p:nvSpPr>
        <p:spPr>
          <a:xfrm>
            <a:off x="6604000" y="1905000"/>
            <a:ext cx="4876800" cy="21590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9" name="case-bar"/>
          <p:cNvSpPr/>
          <p:nvPr/>
        </p:nvSpPr>
        <p:spPr>
          <a:xfrm>
            <a:off x="6604000" y="1905000"/>
            <a:ext cx="38100" cy="21590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0" name="case-text"/>
          <p:cNvSpPr txBox="1"/>
          <p:nvPr/>
        </p:nvSpPr>
        <p:spPr>
          <a:xfrm>
            <a:off x="6832600" y="2057400"/>
            <a:ext cx="4470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Tessl 团队的 "build it twice" 实验：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Vibe coding 版本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——应用静默地返回了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编造的数据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，问题无人察觉。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Spec-driven 版本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——规格中显式定义了正确行为，同一问题被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当场捕获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。</a:t>
            </a:r>
            <a:endParaRPr lang="en-US" sz="1150" noProof="1"/>
          </a:p>
        </p:txBody>
      </p:sp>
      <p:sp>
        <p:nvSpPr>
          <p:cNvPr id="11" name="conclusion-box"/>
          <p:cNvSpPr/>
          <p:nvPr/>
        </p:nvSpPr>
        <p:spPr>
          <a:xfrm>
            <a:off x="711200" y="4368800"/>
            <a:ext cx="10769600" cy="11176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12" name="conclusion"/>
          <p:cNvSpPr txBox="1"/>
          <p:nvPr/>
        </p:nvSpPr>
        <p:spPr>
          <a:xfrm>
            <a:off x="965200" y="4521200"/>
            <a:ext cx="10261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核心判断：</a:t>
            </a:r>
            <a:r>
              <a:rPr lang="en-US" sz="1300" noProof="1">
                <a:solidFill>
                  <a:srgbClr val="0A2240"/>
                </a:solidFill>
                <a:latin typeface="MiSans"/>
                <a:ea typeface="MiSans"/>
              </a:rPr>
              <a:t>当代码越来越多地由 AI 生成，人控制质量的抓手，必然从"逐行评审代码"上移到"定义与验证意图"。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0A2240"/>
                </a:solidFill>
                <a:latin typeface="MiSans"/>
                <a:ea typeface="MiSans"/>
              </a:rPr>
              <a:t>SDD 的回答是：把意图写成</a:t>
            </a: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正式、可维护的规格说明（Spec）</a:t>
            </a:r>
            <a:r>
              <a:rPr lang="en-US" sz="1300" noProof="1">
                <a:solidFill>
                  <a:srgbClr val="0A2240"/>
                </a:solidFill>
                <a:latin typeface="MiSans"/>
                <a:ea typeface="MiSans"/>
              </a:rPr>
              <a:t>，让人和 AI 围绕同一份事实源工作。</a:t>
            </a:r>
            <a:endParaRPr lang="en-US" sz="1300" noProof="1"/>
          </a:p>
        </p:txBody>
      </p:sp>
      <p:sp>
        <p:nvSpPr>
          <p:cNvPr id="13" name="qa"/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想一想：你的团队上一次"AI 生成的代码上线后才发现行为不对"，是代码写错了，还是意图从来没有被写清楚过？</a:t>
            </a:r>
            <a:endParaRPr lang="en-US" sz="1100" noProof="1"/>
          </a:p>
        </p:txBody>
      </p:sp>
      <p:sp>
        <p:nvSpPr>
          <p:cNvPr id="14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来源：Tessl 博客 "My Coding Agent Lied to Me"，经 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specdriven.com/landscape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 引述（2026 年访问）</a:t>
            </a:r>
            <a:endParaRPr lang="en-US" sz="800" noProof="1"/>
          </a:p>
        </p:txBody>
      </p:sp>
      <p:sp>
        <p:nvSpPr>
          <p:cNvPr id="15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03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01 · 认识 SDD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什么是 SDD：先写 Spec 再写代码，Spec 成为共同事实源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def-box"/>
          <p:cNvSpPr/>
          <p:nvPr/>
        </p:nvSpPr>
        <p:spPr>
          <a:xfrm>
            <a:off x="711200" y="1574800"/>
            <a:ext cx="10769600" cy="9398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6" name="def-bar"/>
          <p:cNvSpPr/>
          <p:nvPr/>
        </p:nvSpPr>
        <p:spPr>
          <a:xfrm>
            <a:off x="711200" y="1574800"/>
            <a:ext cx="38100" cy="9398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65200" y="17272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0A2240"/>
                </a:solidFill>
                <a:latin typeface="MiSans"/>
                <a:ea typeface="MiSans"/>
              </a:rPr>
              <a:t>工作定义（Fowler 团队归纳）：</a:t>
            </a:r>
            <a:r>
              <a:rPr lang="en-US" sz="1250" noProof="1">
                <a:solidFill>
                  <a:srgbClr val="0A2240"/>
                </a:solidFill>
                <a:latin typeface="MiSans"/>
                <a:ea typeface="MiSans"/>
              </a:rPr>
              <a:t>SDD 指在用 AI 写代码之前，先写一份"规格说明"（documentation first）；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0A2240"/>
                </a:solidFill>
                <a:latin typeface="MiSans"/>
                <a:ea typeface="MiSans"/>
              </a:rPr>
              <a:t>这份 Spec 随之成为</a:t>
            </a:r>
            <a:r>
              <a:rPr lang="en-US" sz="1250" noProof="1" b="1">
                <a:solidFill>
                  <a:srgbClr val="0A2240"/>
                </a:solidFill>
                <a:latin typeface="MiSans"/>
                <a:ea typeface="MiSans"/>
              </a:rPr>
              <a:t>人与 AI 共同的事实源（source of truth）</a:t>
            </a:r>
            <a:r>
              <a:rPr lang="en-US" sz="1250" noProof="1">
                <a:solidFill>
                  <a:srgbClr val="0A2240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8" name="q1-mark"/>
          <p:cNvSpPr txBox="1"/>
          <p:nvPr/>
        </p:nvSpPr>
        <p:spPr>
          <a:xfrm>
            <a:off x="711200" y="2794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0A2240"/>
                </a:solidFill>
                <a:latin typeface="MiSans"/>
                <a:ea typeface="MiSans"/>
              </a:rPr>
              <a:t>“</a:t>
            </a:r>
            <a:endParaRPr lang="en-US" sz="2600" noProof="1"/>
          </a:p>
        </p:txBody>
      </p:sp>
      <p:sp>
        <p:nvSpPr>
          <p:cNvPr id="9" name="q1"/>
          <p:cNvSpPr txBox="1"/>
          <p:nvPr/>
        </p:nvSpPr>
        <p:spPr>
          <a:xfrm>
            <a:off x="1168400" y="2794000"/>
            <a:ext cx="4724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在这个新世界里，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维护软件就意味着演进规格说明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……开发的通用语言上升到更高的层级，代码只是最后一公里。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—— GitHub（Spec Kit 理念阐述）</a:t>
            </a:r>
            <a:endParaRPr lang="en-US" sz="1150" noProof="1"/>
          </a:p>
        </p:txBody>
      </p:sp>
      <p:sp>
        <p:nvSpPr>
          <p:cNvPr id="10" name="q2-mark"/>
          <p:cNvSpPr txBox="1"/>
          <p:nvPr/>
        </p:nvSpPr>
        <p:spPr>
          <a:xfrm>
            <a:off x="6299200" y="2794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0A2240"/>
                </a:solidFill>
                <a:latin typeface="MiSans"/>
                <a:ea typeface="MiSans"/>
              </a:rPr>
              <a:t>“</a:t>
            </a:r>
            <a:endParaRPr lang="en-US" sz="2600" noProof="1"/>
          </a:p>
        </p:txBody>
      </p:sp>
      <p:sp>
        <p:nvSpPr>
          <p:cNvPr id="11" name="q2"/>
          <p:cNvSpPr txBox="1"/>
          <p:nvPr/>
        </p:nvSpPr>
        <p:spPr>
          <a:xfrm>
            <a:off x="6756400" y="2794000"/>
            <a:ext cx="4724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一种以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规格——而非代码——为主要交付物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的开发方式：规格用结构化、可测试的语言描述意图，由 Agent 生成与之匹配的代码。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—— Tessl（SDD 倡导者，2025）</a:t>
            </a:r>
            <a:endParaRPr lang="en-US" sz="1150" noProof="1"/>
          </a:p>
        </p:txBody>
      </p:sp>
      <p:sp>
        <p:nvSpPr>
          <p:cNvPr id="12" name="mid-line"/>
          <p:cNvSpPr/>
          <p:nvPr/>
        </p:nvSpPr>
        <p:spPr>
          <a:xfrm>
            <a:off x="711200" y="4267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3" name="caveat-label"/>
          <p:cNvSpPr txBox="1"/>
          <p:nvPr/>
        </p:nvSpPr>
        <p:spPr>
          <a:xfrm>
            <a:off x="711200" y="4470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但请先记住两个边界</a:t>
            </a:r>
            <a:endParaRPr lang="en-US" sz="1300" noProof="1"/>
          </a:p>
        </p:txBody>
      </p:sp>
      <p:sp>
        <p:nvSpPr>
          <p:cNvPr id="14" name="caveat"/>
          <p:cNvSpPr txBox="1"/>
          <p:nvPr/>
        </p:nvSpPr>
        <p:spPr>
          <a:xfrm>
            <a:off x="711200" y="4800600"/>
            <a:ext cx="107696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① 定义仍在流动。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SDD 是个快速演化的新术语，不同工具、不同团队对它的理解并不一致——本讲的任务之一就是帮你建立分辨框架。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② 术语已开始稀释。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已有人把 "spec" 当成"详细提示词"的同义词。写一段长提示词 ≠ SDD；SDD 的关键在于规格是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被正式维护的工程产物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，而非一次性输入。</a:t>
            </a:r>
            <a:endParaRPr lang="en-US" sz="1200" noProof="1"/>
          </a:p>
        </p:txBody>
      </p:sp>
      <p:sp>
        <p:nvSpPr>
          <p:cNvPr id="15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Understanding Spec-Driven-Development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（Birgitta Böckeler，2025-10）</a:t>
            </a:r>
            <a:endParaRPr lang="en-US" sz="800" noProof="1"/>
          </a:p>
        </p:txBody>
      </p:sp>
      <p:sp>
        <p:nvSpPr>
          <p:cNvPr id="16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04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01 · 认识 SDD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SDD 不是"一个东西"：由浅到深的三个层级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col-h1"/>
          <p:cNvSpPr txBox="1"/>
          <p:nvPr/>
        </p:nvSpPr>
        <p:spPr>
          <a:xfrm>
            <a:off x="3175000" y="152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636569"/>
                </a:solidFill>
                <a:latin typeface="MiSans"/>
                <a:ea typeface="MiSans"/>
              </a:rPr>
              <a:t>功能创建期</a:t>
            </a:r>
            <a:endParaRPr lang="en-US" sz="1100" noProof="1"/>
          </a:p>
        </p:txBody>
      </p:sp>
      <p:sp>
        <p:nvSpPr>
          <p:cNvPr id="6" name="col-h2"/>
          <p:cNvSpPr txBox="1"/>
          <p:nvPr/>
        </p:nvSpPr>
        <p:spPr>
          <a:xfrm>
            <a:off x="7239000" y="1524000"/>
            <a:ext cx="424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636569"/>
                </a:solidFill>
                <a:latin typeface="MiSans"/>
                <a:ea typeface="MiSans"/>
              </a:rPr>
              <a:t>演进维护期（关键差异在这里）</a:t>
            </a:r>
            <a:endParaRPr lang="en-US" sz="1100" noProof="1"/>
          </a:p>
        </p:txBody>
      </p:sp>
      <p:sp>
        <p:nvSpPr>
          <p:cNvPr id="7" name="lv1-name"/>
          <p:cNvSpPr txBox="1"/>
          <p:nvPr/>
        </p:nvSpPr>
        <p:spPr>
          <a:xfrm>
            <a:off x="711200" y="1879600"/>
            <a:ext cx="2286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Spec-first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100" noProof="1" b="1">
                <a:solidFill>
                  <a:srgbClr val="0A2240"/>
                </a:solidFill>
                <a:latin typeface="MiSans"/>
                <a:ea typeface="MiSans"/>
              </a:rPr>
              <a:t>规格先行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入门层级，最普遍</a:t>
            </a:r>
            <a:endParaRPr lang="en-US" sz="1600" noProof="1"/>
          </a:p>
        </p:txBody>
      </p:sp>
      <p:sp>
        <p:nvSpPr>
          <p:cNvPr id="8" name="lv1-c1"/>
          <p:cNvSpPr/>
          <p:nvPr/>
        </p:nvSpPr>
        <p:spPr>
          <a:xfrm>
            <a:off x="3175000" y="1854200"/>
            <a:ext cx="3810000" cy="11176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9" name="lv1-t1"/>
          <p:cNvSpPr txBox="1"/>
          <p:nvPr/>
        </p:nvSpPr>
        <p:spPr>
          <a:xfrm>
            <a:off x="3352800" y="1981200"/>
            <a:ext cx="3454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先认真写一份 spec.md，再交给 AI 生成本次任务的代码</a:t>
            </a:r>
            <a:endParaRPr lang="en-US" sz="1100" noProof="1"/>
          </a:p>
        </p:txBody>
      </p:sp>
      <p:sp>
        <p:nvSpPr>
          <p:cNvPr id="10" name="lv1-c2"/>
          <p:cNvSpPr/>
          <p:nvPr/>
        </p:nvSpPr>
        <p:spPr>
          <a:xfrm>
            <a:off x="7239000" y="1854200"/>
            <a:ext cx="4241800" cy="11176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11" name="lv1-t2"/>
          <p:cNvSpPr txBox="1"/>
          <p:nvPr/>
        </p:nvSpPr>
        <p:spPr>
          <a:xfrm>
            <a:off x="7416800" y="1981200"/>
            <a:ext cx="3886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任务完成后 spec 即被丢弃；新变更另写一份新 spec</a:t>
            </a:r>
            <a:endParaRPr lang="en-US" sz="1100" noProof="1"/>
          </a:p>
        </p:txBody>
      </p:sp>
      <p:sp>
        <p:nvSpPr>
          <p:cNvPr id="12" name="lv2-name"/>
          <p:cNvSpPr txBox="1"/>
          <p:nvPr/>
        </p:nvSpPr>
        <p:spPr>
          <a:xfrm>
            <a:off x="711200" y="3276600"/>
            <a:ext cx="2286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Spec-anchored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100" noProof="1" b="1">
                <a:solidFill>
                  <a:srgbClr val="0A2240"/>
                </a:solidFill>
                <a:latin typeface="MiSans"/>
                <a:ea typeface="MiSans"/>
              </a:rPr>
              <a:t>规格锚定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规格成为长期资产</a:t>
            </a:r>
            <a:endParaRPr lang="en-US" sz="1600" noProof="1"/>
          </a:p>
        </p:txBody>
      </p:sp>
      <p:sp>
        <p:nvSpPr>
          <p:cNvPr id="13" name="lv2-c1"/>
          <p:cNvSpPr/>
          <p:nvPr/>
        </p:nvSpPr>
        <p:spPr>
          <a:xfrm>
            <a:off x="3175000" y="3251200"/>
            <a:ext cx="3810000" cy="11176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14" name="lv2-t1"/>
          <p:cNvSpPr txBox="1"/>
          <p:nvPr/>
        </p:nvSpPr>
        <p:spPr>
          <a:xfrm>
            <a:off x="3352800" y="3378200"/>
            <a:ext cx="3454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同样先写 spec、AI 生成代码，但 spec 会被保留下来</a:t>
            </a:r>
            <a:endParaRPr lang="en-US" sz="1100" noProof="1"/>
          </a:p>
        </p:txBody>
      </p:sp>
      <p:sp>
        <p:nvSpPr>
          <p:cNvPr id="15" name="lv2-c2"/>
          <p:cNvSpPr/>
          <p:nvPr/>
        </p:nvSpPr>
        <p:spPr>
          <a:xfrm>
            <a:off x="7239000" y="3251200"/>
            <a:ext cx="4241800" cy="11176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16" name="lv2-t2"/>
          <p:cNvSpPr txBox="1"/>
          <p:nvPr/>
        </p:nvSpPr>
        <p:spPr>
          <a:xfrm>
            <a:off x="7416800" y="3378200"/>
            <a:ext cx="3886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spec 随功能持续更新（living spec），后续演进与维护都回到 spec 上进行</a:t>
            </a:r>
            <a:endParaRPr lang="en-US" sz="1100" noProof="1"/>
          </a:p>
        </p:txBody>
      </p:sp>
      <p:sp>
        <p:nvSpPr>
          <p:cNvPr id="17" name="lv3-name"/>
          <p:cNvSpPr txBox="1"/>
          <p:nvPr/>
        </p:nvSpPr>
        <p:spPr>
          <a:xfrm>
            <a:off x="711200" y="4673600"/>
            <a:ext cx="2286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Spec-as-source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100" noProof="1" b="1">
                <a:solidFill>
                  <a:srgbClr val="0A2240"/>
                </a:solidFill>
                <a:latin typeface="MiSans"/>
                <a:ea typeface="MiSans"/>
              </a:rPr>
              <a:t>规格即源码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终极目标，尚无成熟实现</a:t>
            </a:r>
            <a:endParaRPr lang="en-US" sz="1600" noProof="1"/>
          </a:p>
        </p:txBody>
      </p:sp>
      <p:sp>
        <p:nvSpPr>
          <p:cNvPr id="18" name="lv3-c1"/>
          <p:cNvSpPr/>
          <p:nvPr/>
        </p:nvSpPr>
        <p:spPr>
          <a:xfrm>
            <a:off x="3175000" y="4648200"/>
            <a:ext cx="3810000" cy="11176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9" name="lv3-t1"/>
          <p:cNvSpPr txBox="1"/>
          <p:nvPr/>
        </p:nvSpPr>
        <p:spPr>
          <a:xfrm>
            <a:off x="3352800" y="4775200"/>
            <a:ext cx="3454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DCE7F7"/>
                </a:solidFill>
                <a:latin typeface="MiSans"/>
                <a:ea typeface="MiSans"/>
              </a:rPr>
              <a:t>人只编辑 spec；代码完全由 AI 生成，人不直接触碰</a:t>
            </a:r>
            <a:endParaRPr lang="en-US" sz="1100" noProof="1"/>
          </a:p>
        </p:txBody>
      </p:sp>
      <p:sp>
        <p:nvSpPr>
          <p:cNvPr id="20" name="lv3-c2"/>
          <p:cNvSpPr/>
          <p:nvPr/>
        </p:nvSpPr>
        <p:spPr>
          <a:xfrm>
            <a:off x="7239000" y="4648200"/>
            <a:ext cx="4241800" cy="11176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21" name="lv3-t2"/>
          <p:cNvSpPr txBox="1"/>
          <p:nvPr/>
        </p:nvSpPr>
        <p:spPr>
          <a:xfrm>
            <a:off x="7416800" y="4775200"/>
            <a:ext cx="3886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DCE7F7"/>
                </a:solidFill>
                <a:latin typeface="MiSans"/>
                <a:ea typeface="MiSans"/>
              </a:rPr>
              <a:t>代码文件头部标注 GENERATED FROM SPEC - DO NOT EDIT；维护 = 改 spec 后重新生成</a:t>
            </a:r>
            <a:endParaRPr lang="en-US" sz="1100" noProof="1"/>
          </a:p>
        </p:txBody>
      </p:sp>
      <p:sp>
        <p:nvSpPr>
          <p:cNvPr id="22" name="note"/>
          <p:cNvSpPr txBox="1"/>
          <p:nvPr/>
        </p:nvSpPr>
        <p:spPr>
          <a:xfrm>
            <a:off x="711200" y="5943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36569"/>
                </a:solidFill>
                <a:latin typeface="MiSans"/>
                <a:ea typeface="MiSans"/>
              </a:rPr>
              <a:t>分辨要点：</a:t>
            </a: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目前所有自称 SDD 的方法都至少做到 spec-first；但并非都追求 spec-anchored / spec-as-source——很多工具对"spec 的长期维护策略"语焉不详，选型时务必问清这一点。</a:t>
            </a:r>
            <a:endParaRPr lang="en-US" sz="1100" noProof="1"/>
          </a:p>
        </p:txBody>
      </p:sp>
      <p:sp>
        <p:nvSpPr>
          <p:cNvPr id="23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Levels of "spec-driven"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（2025-10），图为原文示意图的简化重绘</a:t>
            </a:r>
            <a:endParaRPr lang="en-US" sz="800" noProof="1"/>
          </a:p>
        </p:txBody>
      </p:sp>
      <p:sp>
        <p:nvSpPr>
          <p:cNvPr id="24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05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01 · 认识 SDD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什么是 Spec：一份"写给 AI 看的行为说明书"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def-box"/>
          <p:cNvSpPr/>
          <p:nvPr/>
        </p:nvSpPr>
        <p:spPr>
          <a:xfrm>
            <a:off x="711200" y="1574800"/>
            <a:ext cx="10769600" cy="10160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6" name="def-bar"/>
          <p:cNvSpPr/>
          <p:nvPr/>
        </p:nvSpPr>
        <p:spPr>
          <a:xfrm>
            <a:off x="711200" y="1574800"/>
            <a:ext cx="38100" cy="10160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65200" y="1701800"/>
            <a:ext cx="10261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定义（Fowler 团队）：</a:t>
            </a:r>
            <a:r>
              <a:rPr lang="en-US" sz="1200" noProof="1">
                <a:solidFill>
                  <a:srgbClr val="0A2240"/>
                </a:solidFill>
                <a:latin typeface="MiSans"/>
                <a:ea typeface="MiSans"/>
              </a:rPr>
              <a:t>Spec 是一份</a:t>
            </a: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结构化的、面向行为的</a:t>
            </a:r>
            <a:r>
              <a:rPr lang="en-US" sz="1200" noProof="1">
                <a:solidFill>
                  <a:srgbClr val="0A2240"/>
                </a:solidFill>
                <a:latin typeface="MiSans"/>
                <a:ea typeface="MiSans"/>
              </a:rPr>
              <a:t>产物（或一组相关产物），用</a:t>
            </a: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自然语言</a:t>
            </a:r>
            <a:r>
              <a:rPr lang="en-US" sz="1200" noProof="1">
                <a:solidFill>
                  <a:srgbClr val="0A2240"/>
                </a:solidFill>
                <a:latin typeface="MiSans"/>
                <a:ea typeface="MiSans"/>
              </a:rPr>
              <a:t>描述软件功能，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0A2240"/>
                </a:solidFill>
                <a:latin typeface="MiSans"/>
                <a:ea typeface="MiSans"/>
              </a:rPr>
              <a:t>并作为</a:t>
            </a: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AI 编码 Agent 的工作指引</a:t>
            </a:r>
            <a:r>
              <a:rPr lang="en-US" sz="1200" noProof="1">
                <a:solidFill>
                  <a:srgbClr val="0A2240"/>
                </a:solidFill>
                <a:latin typeface="MiSans"/>
                <a:ea typeface="MiSans"/>
              </a:rPr>
              <a:t>。每种 SDD 变体对 spec 的结构、详细程度与组织方式各有定义。</a:t>
            </a:r>
            <a:endParaRPr lang="en-US" sz="1200" noProof="1"/>
          </a:p>
        </p:txBody>
      </p:sp>
      <p:sp>
        <p:nvSpPr>
          <p:cNvPr id="8" name="e-label"/>
          <p:cNvSpPr txBox="1"/>
          <p:nvPr/>
        </p:nvSpPr>
        <p:spPr>
          <a:xfrm>
            <a:off x="711200" y="2844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拆解：五个关键词</a:t>
            </a:r>
            <a:endParaRPr lang="en-US" sz="1300" noProof="1"/>
          </a:p>
        </p:txBody>
      </p:sp>
      <p:sp>
        <p:nvSpPr>
          <p:cNvPr id="9" name="kw1"/>
          <p:cNvSpPr txBox="1"/>
          <p:nvPr/>
        </p:nvSpPr>
        <p:spPr>
          <a:xfrm>
            <a:off x="711200" y="3200400"/>
            <a:ext cx="3403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① 结构化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有固定骨架（章节、条目、编号），不是随手写的段落</a:t>
            </a:r>
            <a:endParaRPr lang="en-US" sz="1600" noProof="1"/>
          </a:p>
        </p:txBody>
      </p:sp>
      <p:sp>
        <p:nvSpPr>
          <p:cNvPr id="10" name="kw2"/>
          <p:cNvSpPr txBox="1"/>
          <p:nvPr/>
        </p:nvSpPr>
        <p:spPr>
          <a:xfrm>
            <a:off x="4394200" y="3200400"/>
            <a:ext cx="3403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② 面向行为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描述系统"做什么"，而非"怎么实现"；验收标准可判定</a:t>
            </a:r>
            <a:endParaRPr lang="en-US" sz="1600" noProof="1"/>
          </a:p>
        </p:txBody>
      </p:sp>
      <p:sp>
        <p:nvSpPr>
          <p:cNvPr id="11" name="kw3"/>
          <p:cNvSpPr txBox="1"/>
          <p:nvPr/>
        </p:nvSpPr>
        <p:spPr>
          <a:xfrm>
            <a:off x="8077200" y="3200400"/>
            <a:ext cx="3403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③ 自然语言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Markdown 为主，人与 AI 都能直接读，无需专门解析器</a:t>
            </a:r>
            <a:endParaRPr lang="en-US" sz="1600" noProof="1"/>
          </a:p>
        </p:txBody>
      </p:sp>
      <p:sp>
        <p:nvSpPr>
          <p:cNvPr id="12" name="kw4"/>
          <p:cNvSpPr txBox="1"/>
          <p:nvPr/>
        </p:nvSpPr>
        <p:spPr>
          <a:xfrm>
            <a:off x="711200" y="4114800"/>
            <a:ext cx="3403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④ 指导 Agent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读者不只是人——它首先会被喂给编码 Agent 作为工作依据</a:t>
            </a:r>
            <a:endParaRPr lang="en-US" sz="1600" noProof="1"/>
          </a:p>
        </p:txBody>
      </p:sp>
      <p:sp>
        <p:nvSpPr>
          <p:cNvPr id="13" name="kw5"/>
          <p:cNvSpPr txBox="1"/>
          <p:nvPr/>
        </p:nvSpPr>
        <p:spPr>
          <a:xfrm>
            <a:off x="4394200" y="4114800"/>
            <a:ext cx="3403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⑤ 组织方式各异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单文件、多文件目录、按功能分组……各工具差异很大</a:t>
            </a:r>
            <a:endParaRPr lang="en-US" sz="1600" noProof="1"/>
          </a:p>
        </p:txBody>
      </p:sp>
      <p:sp>
        <p:nvSpPr>
          <p:cNvPr id="14" name="kw6"/>
          <p:cNvSpPr txBox="1"/>
          <p:nvPr/>
        </p:nvSpPr>
        <p:spPr>
          <a:xfrm>
            <a:off x="8077200" y="4114800"/>
            <a:ext cx="3403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类比：接近 PRD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最接近的已有概念是产品需求文档，但更强调可被 Agent 消费</a:t>
            </a:r>
            <a:endParaRPr lang="en-US" sz="1600" noProof="1"/>
          </a:p>
        </p:txBody>
      </p:sp>
      <p:sp>
        <p:nvSpPr>
          <p:cNvPr id="15" name="mid-line"/>
          <p:cNvSpPr/>
          <p:nvPr/>
        </p:nvSpPr>
        <p:spPr>
          <a:xfrm>
            <a:off x="711200" y="51308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6" name="ex-label"/>
          <p:cNvSpPr txBox="1"/>
          <p:nvPr/>
        </p:nvSpPr>
        <p:spPr>
          <a:xfrm>
            <a:off x="711200" y="5308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一条合格的验收标准长什么样（Kiro 真实示例，EARS 句式）</a:t>
            </a:r>
            <a:endParaRPr lang="en-US" sz="1200" noProof="1"/>
          </a:p>
        </p:txBody>
      </p:sp>
      <p:sp>
        <p:nvSpPr>
          <p:cNvPr id="17" name="ex"/>
          <p:cNvSpPr txBox="1"/>
          <p:nvPr/>
        </p:nvSpPr>
        <p:spPr>
          <a:xfrm>
            <a:off x="711200" y="5588000"/>
            <a:ext cx="10769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WHEN 类别名包含连字符 THEN 系统 SHALL 将连字符转为空格并将每个单词首字母大写；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WHEN 类别名为 "client-research" THEN 系统 SHALL 显示为 "Client Research"。</a:t>
            </a:r>
            <a:endParaRPr lang="en-US" sz="1150" noProof="1"/>
          </a:p>
        </p:txBody>
      </p:sp>
      <p:sp>
        <p:nvSpPr>
          <p:cNvPr id="18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What is a spec? / Kiro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（2025-10）</a:t>
            </a:r>
            <a:endParaRPr lang="en-US" sz="800" noProof="1"/>
          </a:p>
        </p:txBody>
      </p:sp>
      <p:sp>
        <p:nvSpPr>
          <p:cNvPr id="19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06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01 · 认识 SDD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分清两类上下文：Spec ≠ Memory Bank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left-label"/>
          <p:cNvSpPr txBox="1"/>
          <p:nvPr/>
        </p:nvSpPr>
        <p:spPr>
          <a:xfrm>
            <a:off x="711200" y="1574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Memory Bank（通用上下文）</a:t>
            </a:r>
            <a:endParaRPr lang="en-US" sz="1300" noProof="1"/>
          </a:p>
        </p:txBody>
      </p:sp>
      <p:sp>
        <p:nvSpPr>
          <p:cNvPr id="6" name="left-box"/>
          <p:cNvSpPr/>
          <p:nvPr/>
        </p:nvSpPr>
        <p:spPr>
          <a:xfrm>
            <a:off x="711200" y="1905000"/>
            <a:ext cx="3810000" cy="2667000"/>
          </a:xfrm>
          <a:prstGeom prst="rect">
            <a:avLst/>
          </a:prstGeom>
          <a:solidFill>
            <a:srgbClr val="F5F5F6"/>
          </a:solidFill>
          <a:ln w="12700">
            <a:solidFill>
              <a:srgbClr val="E4E8EE"/>
            </a:solidFill>
          </a:ln>
        </p:spPr>
      </p:sp>
      <p:sp>
        <p:nvSpPr>
          <p:cNvPr id="7" name="left-list"/>
          <p:cNvSpPr txBox="1"/>
          <p:nvPr/>
        </p:nvSpPr>
        <p:spPr>
          <a:xfrm>
            <a:off x="939800" y="2108200"/>
            <a:ext cx="33528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AGENTS.md / 规则文件（rules）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project.md（产品概述）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architecture.md（架构说明）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编码规范、技术栈约定</a:t>
            </a:r>
            <a:endParaRPr lang="en-US" sz="1150" noProof="1"/>
          </a:p>
        </p:txBody>
      </p:sp>
      <p:sp>
        <p:nvSpPr>
          <p:cNvPr id="8" name="left-cap"/>
          <p:cNvSpPr txBox="1"/>
          <p:nvPr/>
        </p:nvSpPr>
        <p:spPr>
          <a:xfrm>
            <a:off x="939800" y="40132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对仓库中所有 AI 会话持续有效；不随单个任务变化</a:t>
            </a:r>
            <a:endParaRPr lang="en-US" sz="1000" noProof="1"/>
          </a:p>
        </p:txBody>
      </p:sp>
      <p:sp>
        <p:nvSpPr>
          <p:cNvPr id="9" name="arrow-l"/>
          <p:cNvSpPr/>
          <p:nvPr>
            <p:extLst>
              <p:ext uri="{F5677B7D-0D2A-4D9B-9A5C-6D8D7D0E5A5D}">
                <pptd:line encoding="base64url">eyJ2aWV3Qm94IjpbODYsMjBdLCJwb2ludHMiOiIwLDEwIDg2LDEwIiwiY3VydmUiOiJzaGFycCJ9</pptd:line>
              </p:ext>
            </p:extLst>
          </p:nvPr>
        </p:nvSpPr>
        <p:spPr>
          <a:xfrm>
            <a:off x="4597400" y="3048000"/>
            <a:ext cx="1092200" cy="254000"/>
          </a:xfrm>
          <a:custGeom>
            <a:avLst/>
            <a:gdLst/>
            <a:ahLst/>
            <a:cxnLst/>
            <a:rect l="l" t="t" r="r" b="b"/>
            <a:pathLst>
              <a:path w="86" h="20">
                <a:moveTo>
                  <a:pt x="0" y="10"/>
                </a:moveTo>
                <a:lnTo>
                  <a:pt x="86" y="10"/>
                </a:lnTo>
              </a:path>
            </a:pathLst>
          </a:custGeom>
          <a:noFill/>
          <a:ln w="19050">
            <a:solidFill>
              <a:srgbClr val="636569"/>
            </a:solidFill>
            <a:tailEnd type="stealth"/>
          </a:ln>
        </p:spPr>
      </p:sp>
      <p:sp>
        <p:nvSpPr>
          <p:cNvPr id="10" name="agent-box"/>
          <p:cNvSpPr/>
          <p:nvPr/>
        </p:nvSpPr>
        <p:spPr>
          <a:xfrm>
            <a:off x="5740400" y="2743200"/>
            <a:ext cx="11684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1" name="agent-text"/>
          <p:cNvSpPr txBox="1"/>
          <p:nvPr/>
        </p:nvSpPr>
        <p:spPr>
          <a:xfrm>
            <a:off x="5740400" y="2743200"/>
            <a:ext cx="11684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AI 编码
Agent</a:t>
            </a:r>
            <a:endParaRPr lang="en-US" sz="1300" noProof="1"/>
          </a:p>
        </p:txBody>
      </p:sp>
      <p:sp>
        <p:nvSpPr>
          <p:cNvPr id="12" name="arrow-r"/>
          <p:cNvSpPr/>
          <p:nvPr>
            <p:extLst>
              <p:ext uri="{F5677B7D-0D2A-4D9B-9A5C-6D8D7D0E5A5D}">
                <pptd:line encoding="base64url">eyJ2aWV3Qm94IjpbODYsMjBdLCJwb2ludHMiOiI4NiwxMCAwLDEwIiwiY3VydmUiOiJzaGFycCJ9</pptd:line>
              </p:ext>
            </p:extLst>
          </p:nvPr>
        </p:nvSpPr>
        <p:spPr>
          <a:xfrm>
            <a:off x="6985000" y="3048000"/>
            <a:ext cx="1092200" cy="254000"/>
          </a:xfrm>
          <a:custGeom>
            <a:avLst/>
            <a:gdLst/>
            <a:ahLst/>
            <a:cxnLst/>
            <a:rect l="l" t="t" r="r" b="b"/>
            <a:pathLst>
              <a:path w="86" h="20">
                <a:moveTo>
                  <a:pt x="86" y="10"/>
                </a:moveTo>
                <a:lnTo>
                  <a:pt x="0" y="10"/>
                </a:lnTo>
              </a:path>
            </a:pathLst>
          </a:custGeom>
          <a:noFill/>
          <a:ln w="19050">
            <a:solidFill>
              <a:srgbClr val="636569"/>
            </a:solidFill>
            <a:tailEnd type="stealth"/>
          </a:ln>
        </p:spPr>
      </p:sp>
      <p:sp>
        <p:nvSpPr>
          <p:cNvPr id="13" name="right-label"/>
          <p:cNvSpPr txBox="1"/>
          <p:nvPr/>
        </p:nvSpPr>
        <p:spPr>
          <a:xfrm>
            <a:off x="8128000" y="15748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Specs（任务级规格）</a:t>
            </a:r>
            <a:endParaRPr lang="en-US" sz="1300" noProof="1"/>
          </a:p>
        </p:txBody>
      </p:sp>
      <p:sp>
        <p:nvSpPr>
          <p:cNvPr id="14" name="right-box"/>
          <p:cNvSpPr/>
          <p:nvPr/>
        </p:nvSpPr>
        <p:spPr>
          <a:xfrm>
            <a:off x="8128000" y="1905000"/>
            <a:ext cx="3352800" cy="2667000"/>
          </a:xfrm>
          <a:prstGeom prst="rect">
            <a:avLst/>
          </a:prstGeom>
          <a:solidFill>
            <a:srgbClr val="EAF6FC"/>
          </a:solidFill>
          <a:ln w="12700">
            <a:solidFill>
              <a:srgbClr val="BEE7F7"/>
            </a:solidFill>
          </a:ln>
        </p:spPr>
      </p:sp>
      <p:sp>
        <p:nvSpPr>
          <p:cNvPr id="15" name="right-list"/>
          <p:cNvSpPr txBox="1"/>
          <p:nvPr/>
        </p:nvSpPr>
        <p:spPr>
          <a:xfrm>
            <a:off x="8356600" y="2108200"/>
            <a:ext cx="2921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STORY-324.md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product-search.md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feature-x/ 目录</a:t>
            </a:r>
            <a:endParaRPr lang="en-US" sz="1150" noProof="1"/>
          </a:p>
          <a:p>
            <a:pPr>
              <a:lnSpc>
                <a:spcPct val="19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　（plan / data-model / contracts）</a:t>
            </a:r>
            <a:endParaRPr lang="en-US" sz="1150" noProof="1"/>
          </a:p>
        </p:txBody>
      </p:sp>
      <p:sp>
        <p:nvSpPr>
          <p:cNvPr id="16" name="right-cap"/>
          <p:cNvSpPr txBox="1"/>
          <p:nvPr/>
        </p:nvSpPr>
        <p:spPr>
          <a:xfrm>
            <a:off x="8356600" y="4013200"/>
            <a:ext cx="2921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只对"创建或修改该功能"的任务有效；随任务产生与更新</a:t>
            </a:r>
            <a:endParaRPr lang="en-US" sz="1000" noProof="1"/>
          </a:p>
        </p:txBody>
      </p:sp>
      <p:sp>
        <p:nvSpPr>
          <p:cNvPr id="17" name="mid-line"/>
          <p:cNvSpPr/>
          <p:nvPr/>
        </p:nvSpPr>
        <p:spPr>
          <a:xfrm>
            <a:off x="711200" y="49784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8" name="takeaway"/>
          <p:cNvSpPr txBox="1"/>
          <p:nvPr/>
        </p:nvSpPr>
        <p:spPr>
          <a:xfrm>
            <a:off x="711200" y="5181600"/>
            <a:ext cx="107696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为什么要分清：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很多"SDD 到底要维护哪些文件"的困惑，源于把两类上下文混为一谈。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Memory Bank 回答"这个项目是谁、按什么规矩写代码"；Spec 回答"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这一次要做的功能，行为上怎样才算对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"。两者都是 Agent 的输入，但生命周期完全不同——前者长期稳定，后者随功能演进。</a:t>
            </a:r>
            <a:endParaRPr lang="en-US" sz="1200" noProof="1"/>
          </a:p>
        </p:txBody>
      </p:sp>
      <p:sp>
        <p:nvSpPr>
          <p:cNvPr id="19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What is a spec?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（2025-10），图为原文示意图的简化重绘</a:t>
            </a:r>
            <a:endParaRPr lang="en-US" sz="800" noProof="1"/>
          </a:p>
        </p:txBody>
      </p:sp>
      <p:sp>
        <p:nvSpPr>
          <p:cNvPr id="20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07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01 · 认识 SDD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Spec 不是新发明：一条四十年的演进线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tl-line"/>
          <p:cNvSpPr/>
          <p:nvPr/>
        </p:nvSpPr>
        <p:spPr>
          <a:xfrm>
            <a:off x="1016000" y="3708400"/>
            <a:ext cx="10160000" cy="25400"/>
          </a:xfrm>
          <a:prstGeom prst="rect">
            <a:avLst/>
          </a:prstGeom>
          <a:solidFill>
            <a:srgbClr val="C7D2E3"/>
          </a:solidFill>
          <a:ln>
            <a:noFill/>
          </a:ln>
        </p:spPr>
      </p:sp>
      <p:sp>
        <p:nvSpPr>
          <p:cNvPr id="6" name="dot1"/>
          <p:cNvSpPr/>
          <p:nvPr/>
        </p:nvSpPr>
        <p:spPr>
          <a:xfrm>
            <a:off x="1219200" y="3632200"/>
            <a:ext cx="177800" cy="177800"/>
          </a:xfrm>
          <a:prstGeom prst="ellipse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7" name="y1"/>
          <p:cNvSpPr txBox="1"/>
          <p:nvPr/>
        </p:nvSpPr>
        <p:spPr>
          <a:xfrm>
            <a:off x="838200" y="31750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1986</a:t>
            </a:r>
            <a:endParaRPr lang="en-US" sz="1400" noProof="1"/>
          </a:p>
        </p:txBody>
      </p:sp>
      <p:sp>
        <p:nvSpPr>
          <p:cNvPr id="8" name="t1"/>
          <p:cNvSpPr txBox="1"/>
          <p:nvPr/>
        </p:nvSpPr>
        <p:spPr>
          <a:xfrm>
            <a:off x="381000" y="4038600"/>
            <a:ext cx="1905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Eiffel 语言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规格内建于源码：前置/后置条件与不变式是一等语法，运行时校验</a:t>
            </a:r>
            <a:endParaRPr lang="en-US" sz="1600" noProof="1"/>
          </a:p>
        </p:txBody>
      </p:sp>
      <p:sp>
        <p:nvSpPr>
          <p:cNvPr id="9" name="dot2"/>
          <p:cNvSpPr/>
          <p:nvPr/>
        </p:nvSpPr>
        <p:spPr>
          <a:xfrm>
            <a:off x="3505200" y="3632200"/>
            <a:ext cx="177800" cy="177800"/>
          </a:xfrm>
          <a:prstGeom prst="ellipse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0" name="y2"/>
          <p:cNvSpPr txBox="1"/>
          <p:nvPr/>
        </p:nvSpPr>
        <p:spPr>
          <a:xfrm>
            <a:off x="3124200" y="31750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2000s</a:t>
            </a:r>
            <a:endParaRPr lang="en-US" sz="1400" noProof="1"/>
          </a:p>
        </p:txBody>
      </p:sp>
      <p:sp>
        <p:nvSpPr>
          <p:cNvPr id="11" name="t2"/>
          <p:cNvSpPr txBox="1"/>
          <p:nvPr/>
        </p:nvSpPr>
        <p:spPr>
          <a:xfrm>
            <a:off x="2616200" y="40386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FIT / RSpec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规格开始"可执行"：验收测试夹具与行为断言进入生产实践</a:t>
            </a:r>
            <a:endParaRPr lang="en-US" sz="1600" noProof="1"/>
          </a:p>
        </p:txBody>
      </p:sp>
      <p:sp>
        <p:nvSpPr>
          <p:cNvPr id="12" name="dot3"/>
          <p:cNvSpPr/>
          <p:nvPr/>
        </p:nvSpPr>
        <p:spPr>
          <a:xfrm>
            <a:off x="5791200" y="3632200"/>
            <a:ext cx="177800" cy="177800"/>
          </a:xfrm>
          <a:prstGeom prst="ellipse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3" name="y3"/>
          <p:cNvSpPr txBox="1"/>
          <p:nvPr/>
        </p:nvSpPr>
        <p:spPr>
          <a:xfrm>
            <a:off x="5410200" y="31750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2006+</a:t>
            </a:r>
            <a:endParaRPr lang="en-US" sz="1400" noProof="1"/>
          </a:p>
        </p:txBody>
      </p:sp>
      <p:sp>
        <p:nvSpPr>
          <p:cNvPr id="14" name="t3"/>
          <p:cNvSpPr txBox="1"/>
          <p:nvPr/>
        </p:nvSpPr>
        <p:spPr>
          <a:xfrm>
            <a:off x="4902200" y="40386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BDD / 实例化需求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Given-When-Then（Cucumber）：规格通过执行自我证明，"通过即事实"</a:t>
            </a:r>
            <a:endParaRPr lang="en-US" sz="1600" noProof="1"/>
          </a:p>
        </p:txBody>
      </p:sp>
      <p:sp>
        <p:nvSpPr>
          <p:cNvPr id="15" name="dot4"/>
          <p:cNvSpPr/>
          <p:nvPr/>
        </p:nvSpPr>
        <p:spPr>
          <a:xfrm>
            <a:off x="8077200" y="3632200"/>
            <a:ext cx="177800" cy="177800"/>
          </a:xfrm>
          <a:prstGeom prst="ellipse">
            <a:avLst/>
          </a:prstGeom>
          <a:solidFill>
            <a:srgbClr val="93A5BE"/>
          </a:solidFill>
          <a:ln>
            <a:noFill/>
          </a:ln>
        </p:spPr>
      </p:sp>
      <p:sp>
        <p:nvSpPr>
          <p:cNvPr id="16" name="y4"/>
          <p:cNvSpPr txBox="1"/>
          <p:nvPr/>
        </p:nvSpPr>
        <p:spPr>
          <a:xfrm>
            <a:off x="7696200" y="3175000"/>
            <a:ext cx="939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93A5BE"/>
                </a:solidFill>
                <a:latin typeface="MiSans"/>
                <a:ea typeface="MiSans"/>
              </a:rPr>
              <a:t>2010s</a:t>
            </a:r>
            <a:endParaRPr lang="en-US" sz="1400" noProof="1"/>
          </a:p>
        </p:txBody>
      </p:sp>
      <p:sp>
        <p:nvSpPr>
          <p:cNvPr id="17" name="t4"/>
          <p:cNvSpPr txBox="1"/>
          <p:nvPr/>
        </p:nvSpPr>
        <p:spPr>
          <a:xfrm>
            <a:off x="7188200" y="40386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MDD 模型驱动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模型即规格、代码自动生成；因抽象尴尬、开销过大未在业务应用普及</a:t>
            </a:r>
            <a:endParaRPr lang="en-US" sz="1600" noProof="1"/>
          </a:p>
        </p:txBody>
      </p:sp>
      <p:sp>
        <p:nvSpPr>
          <p:cNvPr id="18" name="dot5"/>
          <p:cNvSpPr/>
          <p:nvPr/>
        </p:nvSpPr>
        <p:spPr>
          <a:xfrm>
            <a:off x="10363200" y="3632200"/>
            <a:ext cx="177800" cy="177800"/>
          </a:xfrm>
          <a:prstGeom prst="ellipse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9" name="y5"/>
          <p:cNvSpPr txBox="1"/>
          <p:nvPr/>
        </p:nvSpPr>
        <p:spPr>
          <a:xfrm>
            <a:off x="9931400" y="3175000"/>
            <a:ext cx="1066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2025–26</a:t>
            </a:r>
            <a:endParaRPr lang="en-US" sz="1400" noProof="1"/>
          </a:p>
        </p:txBody>
      </p:sp>
      <p:sp>
        <p:nvSpPr>
          <p:cNvPr id="20" name="t5"/>
          <p:cNvSpPr txBox="1"/>
          <p:nvPr/>
        </p:nvSpPr>
        <p:spPr>
          <a:xfrm>
            <a:off x="9474200" y="4038600"/>
            <a:ext cx="2159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SDD 浪潮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同一想法上移一层：自然语言作断言媒介，AI 作代码生成器</a:t>
            </a:r>
            <a:endParaRPr lang="en-US" sz="1600" noProof="1"/>
          </a:p>
        </p:txBody>
      </p:sp>
      <p:sp>
        <p:nvSpPr>
          <p:cNvPr id="21" name="lesson-box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22" name="lesson-bar"/>
          <p:cNvSpPr/>
          <p:nvPr/>
        </p:nvSpPr>
        <p:spPr>
          <a:xfrm>
            <a:off x="711200" y="5384800"/>
            <a:ext cx="38100" cy="7874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23" name="lesson"/>
          <p:cNvSpPr txBox="1"/>
          <p:nvPr/>
        </p:nvSpPr>
        <p:spPr>
          <a:xfrm>
            <a:off x="965200" y="5486400"/>
            <a:ext cx="10261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Eiffel 留下的经验：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当规格语言足够精确、且工具链强制保持一致时，"spec-as-source"才有回报——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这条四十年前的教训，对 LLM 时代同样成立；历史还告诉我们什么可行、什么不可行（见第 19 页 MDD 教训）。</a:t>
            </a:r>
            <a:endParaRPr lang="en-US" sz="1150" noProof="1"/>
          </a:p>
        </p:txBody>
      </p:sp>
      <p:sp>
        <p:nvSpPr>
          <p:cNvPr id="24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specdriven.com — The Spec-as-Source Lineage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；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martinfowler.com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（MDD 部分）</a:t>
            </a:r>
            <a:endParaRPr lang="en-US" sz="800" noProof="1"/>
          </a:p>
        </p:txBody>
      </p:sp>
      <p:sp>
        <p:nvSpPr>
          <p:cNvPr id="25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08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01 · 认识 SDD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关键洞察：当下 SDD 工具的"可执行性鸿沟"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quote-box"/>
          <p:cNvSpPr/>
          <p:nvPr/>
        </p:nvSpPr>
        <p:spPr>
          <a:xfrm>
            <a:off x="711200" y="1574800"/>
            <a:ext cx="10769600" cy="7112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6" name="quote"/>
          <p:cNvSpPr txBox="1"/>
          <p:nvPr/>
        </p:nvSpPr>
        <p:spPr>
          <a:xfrm>
            <a:off x="965200" y="1574800"/>
            <a:ext cx="1026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大多数工具使用 Markdown 散文——可读，是；可验证，否。</a:t>
            </a:r>
            <a:endParaRPr lang="en-US" sz="1400" noProof="1"/>
          </a:p>
        </p:txBody>
      </p:sp>
      <p:sp>
        <p:nvSpPr>
          <p:cNvPr id="7" name="left-label"/>
          <p:cNvSpPr txBox="1"/>
          <p:nvPr/>
        </p:nvSpPr>
        <p:spPr>
          <a:xfrm>
            <a:off x="711200" y="2540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524C"/>
                </a:solidFill>
                <a:latin typeface="MiSans"/>
                <a:ea typeface="MiSans"/>
              </a:rPr>
              <a:t>BDD 时代赢得的成就</a:t>
            </a:r>
            <a:endParaRPr lang="en-US" sz="1300" noProof="1"/>
          </a:p>
        </p:txBody>
      </p:sp>
      <p:sp>
        <p:nvSpPr>
          <p:cNvPr id="8" name="left-box"/>
          <p:cNvSpPr/>
          <p:nvPr/>
        </p:nvSpPr>
        <p:spPr>
          <a:xfrm>
            <a:off x="711200" y="2870200"/>
            <a:ext cx="5181600" cy="2133600"/>
          </a:xfrm>
          <a:prstGeom prst="rect">
            <a:avLst/>
          </a:prstGeom>
          <a:solidFill>
            <a:srgbClr val="E6F0EE"/>
          </a:solidFill>
          <a:ln>
            <a:noFill/>
          </a:ln>
        </p:spPr>
      </p:sp>
      <p:sp>
        <p:nvSpPr>
          <p:cNvPr id="9" name="left-text"/>
          <p:cNvSpPr txBox="1"/>
          <p:nvPr/>
        </p:nvSpPr>
        <p:spPr>
          <a:xfrm>
            <a:off x="939800" y="3048000"/>
            <a:ext cx="47244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规格应当是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可执行的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：当它"通过"时，就不只是文档，而是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被验证过的事实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。</a:t>
            </a:r>
            <a:endParaRPr lang="en-US" sz="115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FIT、Cucumber、RSpec 都曾在生产环境、大规模团队中证明了这条路可行。</a:t>
            </a:r>
            <a:endParaRPr lang="en-US" sz="1150" noProof="1"/>
          </a:p>
        </p:txBody>
      </p:sp>
      <p:sp>
        <p:nvSpPr>
          <p:cNvPr id="10" name="right-label"/>
          <p:cNvSpPr txBox="1"/>
          <p:nvPr/>
        </p:nvSpPr>
        <p:spPr>
          <a:xfrm>
            <a:off x="6299200" y="2540000"/>
            <a:ext cx="518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63D63"/>
                </a:solidFill>
                <a:latin typeface="MiSans"/>
                <a:ea typeface="MiSans"/>
              </a:rPr>
              <a:t>2025–26 新浪潮的回退</a:t>
            </a:r>
            <a:endParaRPr lang="en-US" sz="1300" noProof="1"/>
          </a:p>
        </p:txBody>
      </p:sp>
      <p:sp>
        <p:nvSpPr>
          <p:cNvPr id="11" name="right-box"/>
          <p:cNvSpPr/>
          <p:nvPr/>
        </p:nvSpPr>
        <p:spPr>
          <a:xfrm>
            <a:off x="6299200" y="2870200"/>
            <a:ext cx="5181600" cy="2133600"/>
          </a:xfrm>
          <a:prstGeom prst="rect">
            <a:avLst/>
          </a:prstGeom>
          <a:solidFill>
            <a:srgbClr val="FBE9F0"/>
          </a:solidFill>
          <a:ln>
            <a:noFill/>
          </a:ln>
        </p:spPr>
      </p:sp>
      <p:sp>
        <p:nvSpPr>
          <p:cNvPr id="12" name="right-text"/>
          <p:cNvSpPr txBox="1"/>
          <p:nvPr/>
        </p:nvSpPr>
        <p:spPr>
          <a:xfrm>
            <a:off x="6527800" y="3048000"/>
            <a:ext cx="47244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Kiro、Spec Kit、OpenSpec、BMAD、IntentSpec——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清一色 Markdown 散文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，规格无法自我证明。</a:t>
            </a:r>
            <a:endParaRPr lang="en-US" sz="115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Intent 的活文档随实现更新，但不独立验证正确性。当前少见的例外是 Auto（可执行的 NDD 模型）。</a:t>
            </a:r>
            <a:endParaRPr lang="en-US" sz="1150" noProof="1"/>
          </a:p>
        </p:txBody>
      </p:sp>
      <p:sp>
        <p:nvSpPr>
          <p:cNvPr id="13" name="risk-label"/>
          <p:cNvSpPr txBox="1"/>
          <p:nvPr/>
        </p:nvSpPr>
        <p:spPr>
          <a:xfrm>
            <a:off x="711200" y="52578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为什么这很重要</a:t>
            </a:r>
            <a:endParaRPr lang="en-US" sz="1300" noProof="1"/>
          </a:p>
        </p:txBody>
      </p:sp>
      <p:sp>
        <p:nvSpPr>
          <p:cNvPr id="14" name="risk"/>
          <p:cNvSpPr txBox="1"/>
          <p:nvPr/>
        </p:nvSpPr>
        <p:spPr>
          <a:xfrm>
            <a:off x="711200" y="5562600"/>
            <a:ext cx="10769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散文式 spec 会"漂移"。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没有自动验证，就无法保证 spec 仍然描述着你的系统——三个月前准确的 spec 今天可能完全错误，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而无人知晓，直到线上出事。选型时，"规格如何被验证"应成为核心评估维度之一。</a:t>
            </a:r>
            <a:endParaRPr lang="en-US" sz="1200" noProof="1"/>
          </a:p>
        </p:txBody>
      </p:sp>
      <p:sp>
        <p:nvSpPr>
          <p:cNvPr id="15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specdriven.com — The Executability Gap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（2026 年访问）</a:t>
            </a:r>
            <a:endParaRPr lang="en-US" sz="800" noProof="1"/>
          </a:p>
        </p:txBody>
      </p:sp>
      <p:sp>
        <p:nvSpPr>
          <p:cNvPr id="16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09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02 · 工具全景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工具总览：一个年轻、碎片化、快速演化的市场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711200" y="1574800"/>
          <a:ext cx="10769600" cy="4470400"/>
        </p:xfrm>
        <a:graphic>
          <a:graphicData uri="http://schemas.openxmlformats.org/drawingml/2006/table">
            <a:tbl>
              <a:tblPr/>
              <a:tblGrid>
                <a:gridCol w="1723136"/>
                <a:gridCol w="1507744"/>
                <a:gridCol w="2153920"/>
                <a:gridCol w="969264"/>
                <a:gridCol w="1184656"/>
                <a:gridCol w="3230880"/>
              </a:tblGrid>
              <a:tr h="39339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0A2240"/>
                          </a:solidFill>
                          <a:latin typeface="Times New Roman"/>
                          <a:ea typeface="Times New Roman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A2240"/>
                      </a:solidFill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0A2240"/>
                          </a:solidFill>
                          <a:latin typeface="Times New Roman"/>
                          <a:ea typeface="Times New Roman"/>
                        </a:rPr>
                        <a:t>出品方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A2240"/>
                      </a:solidFill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0A2240"/>
                          </a:solidFill>
                          <a:latin typeface="Times New Roman"/>
                          <a:ea typeface="Times New Roman"/>
                        </a:rPr>
                        <a:t>Spec 格式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A2240"/>
                      </a:solidFill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0A2240"/>
                          </a:solidFill>
                          <a:latin typeface="Times New Roman"/>
                          <a:ea typeface="Times New Roman"/>
                        </a:rPr>
                        <a:t>可执行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A2240"/>
                      </a:solidFill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0A2240"/>
                          </a:solidFill>
                          <a:latin typeface="Times New Roman"/>
                          <a:ea typeface="Times New Roman"/>
                        </a:rPr>
                        <a:t>开源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A2240"/>
                      </a:solidFill>
                    </a:lnB>
                    <a:solidFill>
                      <a:srgbClr val="F5F5F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0A2240"/>
                          </a:solidFill>
                          <a:latin typeface="Times New Roman"/>
                          <a:ea typeface="Times New Roman"/>
                        </a:rPr>
                        <a:t>主要领域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A2240"/>
                      </a:solidFill>
                    </a:lnB>
                    <a:solidFill>
                      <a:srgbClr val="F5F5F6"/>
                    </a:solidFill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Auto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Auto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NDD 模型/工作流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00524C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业务应用（line-of-business）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BMAD-METHOD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社区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多产物 Markdown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全研发生命周期（多 Agent 角色）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cc-sdd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社区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Markdown 工作流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多 Agent 编码工具的 SDD 移植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Cursor Rules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Cursor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MDC 规则文件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项目级 AI 行为规范约束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GitHub Spec Kit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GitHub / 微软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Markdown 模板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是 (MIT)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通用，适配多种编码助手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Google Code Wiki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Google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AI 生成文档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仓库活文档（每提交重新生成）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Intent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Augment 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活文档 Markdown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企业级 / 多仓库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IntentSpec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社区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Markdown + YAML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极简起步（单个 intent.md）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Kiro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AWS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Markdown（EARS）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AWS 生态应用，IDE 内引导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6657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OpenSpec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Fission AI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Markdown + YAML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存量系统 / 迭代式演进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  <a:tr h="39339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Pre.dev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Pre.dev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可迁移 Spec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434D"/>
                          </a:solidFill>
                          <a:latin typeface="Times New Roman"/>
                          <a:ea typeface="Times New Roman"/>
                        </a:rPr>
                        <a:t>跨工具携带的规格资产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8E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711200" y="6146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注：Tessl 曾是 SDD 代表玩家（.spec.md + 指令），2026 年 1 月已转向 Agent Skills 方向、退出该领域；另有 MetaGPT、DeepWiki 等相关项目值得关注。</a:t>
            </a:r>
            <a:endParaRPr lang="en-US" sz="1000" noProof="1"/>
          </a:p>
        </p:txBody>
      </p:sp>
      <p:sp>
        <p:nvSpPr>
          <p:cNvPr id="7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specdriven.com — Tool Overview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（社区维护，2026 年访问）</a:t>
            </a:r>
            <a:endParaRPr lang="en-US" sz="800" noProof="1"/>
          </a:p>
        </p:txBody>
      </p:sp>
      <p:sp>
        <p:nvSpPr>
          <p:cNvPr id="8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10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02 · 工具全景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工具地图：按"层级 × 场景"找到你的位置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z1-label"/>
          <p:cNvSpPr txBox="1"/>
          <p:nvPr/>
        </p:nvSpPr>
        <p:spPr>
          <a:xfrm>
            <a:off x="711200" y="15748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A2240"/>
                </a:solidFill>
                <a:latin typeface="MiSans"/>
                <a:ea typeface="MiSans"/>
              </a:rPr>
              <a:t>Spec-first · 轻量工作流</a:t>
            </a:r>
            <a:endParaRPr lang="en-US" sz="1250" noProof="1"/>
          </a:p>
        </p:txBody>
      </p:sp>
      <p:sp>
        <p:nvSpPr>
          <p:cNvPr id="6" name="z1"/>
          <p:cNvSpPr txBox="1"/>
          <p:nvPr/>
        </p:nvSpPr>
        <p:spPr>
          <a:xfrm>
            <a:off x="711200" y="18796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Kiro · cc-sdd · IntentSpec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三至一份文档搞定一个任务，上手成本最低。适合：个人开发者、绿地原型、单用户故事级变更。</a:t>
            </a:r>
            <a:endParaRPr lang="en-US" sz="1600" noProof="1"/>
          </a:p>
        </p:txBody>
      </p:sp>
      <p:sp>
        <p:nvSpPr>
          <p:cNvPr id="7" name="z1-line"/>
          <p:cNvSpPr/>
          <p:nvPr/>
        </p:nvSpPr>
        <p:spPr>
          <a:xfrm>
            <a:off x="711200" y="2870200"/>
            <a:ext cx="53340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8" name="z2-label"/>
          <p:cNvSpPr txBox="1"/>
          <p:nvPr/>
        </p:nvSpPr>
        <p:spPr>
          <a:xfrm>
            <a:off x="711200" y="3048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A2240"/>
                </a:solidFill>
                <a:latin typeface="MiSans"/>
                <a:ea typeface="MiSans"/>
              </a:rPr>
              <a:t>Spec-first · 完整流程</a:t>
            </a:r>
            <a:endParaRPr lang="en-US" sz="1250" noProof="1"/>
          </a:p>
        </p:txBody>
      </p:sp>
      <p:sp>
        <p:nvSpPr>
          <p:cNvPr id="9" name="z2"/>
          <p:cNvSpPr txBox="1"/>
          <p:nvPr/>
        </p:nvSpPr>
        <p:spPr>
          <a:xfrm>
            <a:off x="711200" y="33528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GitHub Spec Kit · BMAD-METHOD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多阶段、多产物，内嵌检查清单与角色分工。适合：团队协作、从零搭建完整功能/项目，愿意承担评审成本。</a:t>
            </a:r>
            <a:endParaRPr lang="en-US" sz="1600" noProof="1"/>
          </a:p>
        </p:txBody>
      </p:sp>
      <p:sp>
        <p:nvSpPr>
          <p:cNvPr id="10" name="z2-line"/>
          <p:cNvSpPr/>
          <p:nvPr/>
        </p:nvSpPr>
        <p:spPr>
          <a:xfrm>
            <a:off x="711200" y="4343400"/>
            <a:ext cx="53340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1" name="z3-label"/>
          <p:cNvSpPr txBox="1"/>
          <p:nvPr/>
        </p:nvSpPr>
        <p:spPr>
          <a:xfrm>
            <a:off x="711200" y="4521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A2240"/>
                </a:solidFill>
                <a:latin typeface="MiSans"/>
                <a:ea typeface="MiSans"/>
              </a:rPr>
              <a:t>Spec-anchored · 长期演进</a:t>
            </a:r>
            <a:endParaRPr lang="en-US" sz="1250" noProof="1"/>
          </a:p>
        </p:txBody>
      </p:sp>
      <p:sp>
        <p:nvSpPr>
          <p:cNvPr id="12" name="z3"/>
          <p:cNvSpPr txBox="1"/>
          <p:nvPr/>
        </p:nvSpPr>
        <p:spPr>
          <a:xfrm>
            <a:off x="711200" y="48260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OpenSpec · Intent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规格随功能持续维护（变更包 / 活文档）。适合：存量系统改造、需要长期维护与多仓库治理的企业团队。</a:t>
            </a:r>
            <a:endParaRPr lang="en-US" sz="1600" noProof="1"/>
          </a:p>
        </p:txBody>
      </p:sp>
      <p:sp>
        <p:nvSpPr>
          <p:cNvPr id="13" name="v-line"/>
          <p:cNvSpPr/>
          <p:nvPr/>
        </p:nvSpPr>
        <p:spPr>
          <a:xfrm>
            <a:off x="6299200" y="1574800"/>
            <a:ext cx="12700" cy="41910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4" name="z4-label"/>
          <p:cNvSpPr txBox="1"/>
          <p:nvPr/>
        </p:nvSpPr>
        <p:spPr>
          <a:xfrm>
            <a:off x="6553200" y="15748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A2240"/>
                </a:solidFill>
                <a:latin typeface="MiSans"/>
                <a:ea typeface="MiSans"/>
              </a:rPr>
              <a:t>Spec-as-source · 前沿探索</a:t>
            </a:r>
            <a:endParaRPr lang="en-US" sz="1250" noProof="1"/>
          </a:p>
        </p:txBody>
      </p:sp>
      <p:sp>
        <p:nvSpPr>
          <p:cNvPr id="15" name="z4"/>
          <p:cNvSpPr txBox="1"/>
          <p:nvPr/>
        </p:nvSpPr>
        <p:spPr>
          <a:xfrm>
            <a:off x="6553200" y="1879600"/>
            <a:ext cx="492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0A2240"/>
                </a:solidFill>
                <a:latin typeface="MiSans"/>
                <a:ea typeface="MiSans"/>
              </a:rPr>
              <a:t>Auto</a:t>
            </a:r>
            <a:r>
              <a:rPr lang="en-US" sz="1050" noProof="1">
                <a:solidFill>
                  <a:srgbClr val="636569"/>
                </a:solidFill>
                <a:latin typeface="MiSans"/>
                <a:ea typeface="MiSans"/>
              </a:rPr>
              <a:t>（Tessl 已退出该方向）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规格可执行、代码由规格驱动生成。适合：对"规格即事实源"有强诉求、能接受闭源与早期形态的团队。</a:t>
            </a:r>
            <a:endParaRPr lang="en-US" sz="1600" noProof="1"/>
          </a:p>
        </p:txBody>
      </p:sp>
      <p:sp>
        <p:nvSpPr>
          <p:cNvPr id="16" name="z4-line"/>
          <p:cNvSpPr/>
          <p:nvPr/>
        </p:nvSpPr>
        <p:spPr>
          <a:xfrm>
            <a:off x="6553200" y="2870200"/>
            <a:ext cx="4927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7" name="z5-label"/>
          <p:cNvSpPr txBox="1"/>
          <p:nvPr/>
        </p:nvSpPr>
        <p:spPr>
          <a:xfrm>
            <a:off x="6553200" y="30480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636569"/>
                </a:solidFill>
                <a:latin typeface="MiSans"/>
                <a:ea typeface="MiSans"/>
              </a:rPr>
              <a:t>周边配套（不是严格意义的 SDD）</a:t>
            </a:r>
            <a:endParaRPr lang="en-US" sz="1250" noProof="1"/>
          </a:p>
        </p:txBody>
      </p:sp>
      <p:sp>
        <p:nvSpPr>
          <p:cNvPr id="18" name="z5"/>
          <p:cNvSpPr txBox="1"/>
          <p:nvPr/>
        </p:nvSpPr>
        <p:spPr>
          <a:xfrm>
            <a:off x="6553200" y="3352800"/>
            <a:ext cx="4927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50" noProof="1" b="1">
                <a:solidFill>
                  <a:srgbClr val="0A2240"/>
                </a:solidFill>
                <a:latin typeface="MiSans"/>
                <a:ea typeface="MiSans"/>
              </a:rPr>
              <a:t>Cursor Rules</a:t>
            </a: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　AI 行为规范（被动引导而非强制）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 b="1">
                <a:solidFill>
                  <a:srgbClr val="0A2240"/>
                </a:solidFill>
                <a:latin typeface="MiSans"/>
                <a:ea typeface="MiSans"/>
              </a:rPr>
              <a:t>Google Code Wiki / DeepWiki</a:t>
            </a: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　从代码反向生成活文档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 b="1">
                <a:solidFill>
                  <a:srgbClr val="0A2240"/>
                </a:solidFill>
                <a:latin typeface="MiSans"/>
                <a:ea typeface="MiSans"/>
              </a:rPr>
              <a:t>Pre.dev</a:t>
            </a: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　让规格成为可跨工具携带的资产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050" noProof="1" b="1">
                <a:solidFill>
                  <a:srgbClr val="0A2240"/>
                </a:solidFill>
                <a:latin typeface="MiSans"/>
                <a:ea typeface="MiSans"/>
              </a:rPr>
              <a:t>MetaGPT</a:t>
            </a: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　多 Agent 角色协作生成完整项目</a:t>
            </a:r>
            <a:endParaRPr lang="en-US" sz="1600" noProof="1"/>
          </a:p>
        </p:txBody>
      </p:sp>
      <p:sp>
        <p:nvSpPr>
          <p:cNvPr id="19" name="warn-box"/>
          <p:cNvSpPr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solidFill>
            <a:srgbClr val="FBE9F0"/>
          </a:solidFill>
          <a:ln>
            <a:noFill/>
          </a:ln>
        </p:spPr>
      </p:sp>
      <p:sp>
        <p:nvSpPr>
          <p:cNvPr id="20" name="warn"/>
          <p:cNvSpPr txBox="1"/>
          <p:nvPr/>
        </p:nvSpPr>
        <p:spPr>
          <a:xfrm>
            <a:off x="914400" y="5892800"/>
            <a:ext cx="1036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没有"全能工具"：个人绿地原型与企业存量改造的需求完全不同——先定位场景，再选工具；格局每半年就会重排一次。</a:t>
            </a:r>
            <a:endParaRPr lang="en-US" sz="1100" noProof="1"/>
          </a:p>
        </p:txBody>
      </p:sp>
      <p:sp>
        <p:nvSpPr>
          <p:cNvPr id="21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specdriven.com/landscape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；分类为本讲基于 Fowler 三层级框架的归纳</a:t>
            </a:r>
            <a:endParaRPr lang="en-US" sz="800" noProof="1"/>
          </a:p>
        </p:txBody>
      </p:sp>
      <p:sp>
        <p:nvSpPr>
          <p:cNvPr id="22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11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02 · 工具全景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Kiro（AWS）：最轻量的三文档工作流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step1-box"/>
          <p:cNvSpPr/>
          <p:nvPr/>
        </p:nvSpPr>
        <p:spPr>
          <a:xfrm>
            <a:off x="711200" y="1651000"/>
            <a:ext cx="3251200" cy="9144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6" name="step1"/>
          <p:cNvSpPr txBox="1"/>
          <p:nvPr/>
        </p:nvSpPr>
        <p:spPr>
          <a:xfrm>
            <a:off x="889000" y="1752600"/>
            <a:ext cx="2895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1 · Requirements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User Story（As a…）+ 验收标准（WHEN…THEN…SHALL…）</a:t>
            </a:r>
            <a:endParaRPr lang="en-US" sz="1600" noProof="1"/>
          </a:p>
        </p:txBody>
      </p:sp>
      <p:sp>
        <p:nvSpPr>
          <p:cNvPr id="7" name="arr1"/>
          <p:cNvSpPr/>
          <p:nvPr>
            <p:extLst>
              <p:ext uri="{F5677B7D-0D2A-4D9B-9A5C-6D8D7D0E5A5D}">
                <pptd:line encoding="base64url">eyJ2aWV3Qm94IjpbNDAsMTZdLCJwb2ludHMiOiIwLDggNDAsOCIsImN1cnZlIjoic2hhcnAifQ</pptd:line>
              </p:ext>
            </p:extLst>
          </p:nvPr>
        </p:nvSpPr>
        <p:spPr>
          <a:xfrm>
            <a:off x="4013200" y="1981200"/>
            <a:ext cx="508000" cy="203200"/>
          </a:xfrm>
          <a:custGeom>
            <a:avLst/>
            <a:gdLst/>
            <a:ahLst/>
            <a:cxnLst/>
            <a:rect l="l" t="t" r="r" b="b"/>
            <a:pathLst>
              <a:path w="40" h="16">
                <a:moveTo>
                  <a:pt x="0" y="8"/>
                </a:moveTo>
                <a:lnTo>
                  <a:pt x="40" y="8"/>
                </a:lnTo>
              </a:path>
            </a:pathLst>
          </a:custGeom>
          <a:noFill/>
          <a:ln w="19050">
            <a:solidFill>
              <a:srgbClr val="636569"/>
            </a:solidFill>
            <a:tailEnd type="stealth"/>
          </a:ln>
        </p:spPr>
      </p:sp>
      <p:sp>
        <p:nvSpPr>
          <p:cNvPr id="8" name="step2-box"/>
          <p:cNvSpPr/>
          <p:nvPr/>
        </p:nvSpPr>
        <p:spPr>
          <a:xfrm>
            <a:off x="4572000" y="1651000"/>
            <a:ext cx="3251200" cy="9144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9" name="step2"/>
          <p:cNvSpPr txBox="1"/>
          <p:nvPr/>
        </p:nvSpPr>
        <p:spPr>
          <a:xfrm>
            <a:off x="4749800" y="1752600"/>
            <a:ext cx="2895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2 · Design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技术设计文档（架构、数据模型、接口等章节）</a:t>
            </a:r>
            <a:endParaRPr lang="en-US" sz="1600" noProof="1"/>
          </a:p>
        </p:txBody>
      </p:sp>
      <p:sp>
        <p:nvSpPr>
          <p:cNvPr id="10" name="arr2"/>
          <p:cNvSpPr/>
          <p:nvPr>
            <p:extLst>
              <p:ext uri="{F5677B7D-0D2A-4D9B-9A5C-6D8D7D0E5A5D}">
                <pptd:line encoding="base64url">eyJ2aWV3Qm94IjpbNDAsMTZdLCJwb2ludHMiOiIwLDggNDAsOCIsImN1cnZlIjoic2hhcnAifQ</pptd:line>
              </p:ext>
            </p:extLst>
          </p:nvPr>
        </p:nvSpPr>
        <p:spPr>
          <a:xfrm>
            <a:off x="7874000" y="1981200"/>
            <a:ext cx="508000" cy="203200"/>
          </a:xfrm>
          <a:custGeom>
            <a:avLst/>
            <a:gdLst/>
            <a:ahLst/>
            <a:cxnLst/>
            <a:rect l="l" t="t" r="r" b="b"/>
            <a:pathLst>
              <a:path w="40" h="16">
                <a:moveTo>
                  <a:pt x="0" y="8"/>
                </a:moveTo>
                <a:lnTo>
                  <a:pt x="40" y="8"/>
                </a:lnTo>
              </a:path>
            </a:pathLst>
          </a:custGeom>
          <a:noFill/>
          <a:ln w="19050">
            <a:solidFill>
              <a:srgbClr val="636569"/>
            </a:solidFill>
            <a:tailEnd type="stealth"/>
          </a:ln>
        </p:spPr>
      </p:sp>
      <p:sp>
        <p:nvSpPr>
          <p:cNvPr id="11" name="step3-box"/>
          <p:cNvSpPr/>
          <p:nvPr/>
        </p:nvSpPr>
        <p:spPr>
          <a:xfrm>
            <a:off x="8432800" y="1651000"/>
            <a:ext cx="3048000" cy="9144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12" name="step3"/>
          <p:cNvSpPr txBox="1"/>
          <p:nvPr/>
        </p:nvSpPr>
        <p:spPr>
          <a:xfrm>
            <a:off x="8610600" y="1752600"/>
            <a:ext cx="2692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3 · Tasks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任务清单，逐条回溯需求编号，可逐个执行与评审</a:t>
            </a:r>
            <a:endParaRPr lang="en-US" sz="1600" noProof="1"/>
          </a:p>
        </p:txBody>
      </p:sp>
      <p:sp>
        <p:nvSpPr>
          <p:cNvPr id="13" name="flow-cap"/>
          <p:cNvSpPr txBox="1"/>
          <p:nvPr/>
        </p:nvSpPr>
        <p:spPr>
          <a:xfrm>
            <a:off x="711200" y="26924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每个阶段 = 一份 Markdown 文档，在 VS Code 系 IDE 内由 Kiro 逐步引导生成与修订</a:t>
            </a:r>
            <a:endParaRPr lang="en-US" sz="1000" noProof="1"/>
          </a:p>
        </p:txBody>
      </p:sp>
      <p:sp>
        <p:nvSpPr>
          <p:cNvPr id="14" name="mid-line"/>
          <p:cNvSpPr/>
          <p:nvPr/>
        </p:nvSpPr>
        <p:spPr>
          <a:xfrm>
            <a:off x="711200" y="30988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5" name="feat-label"/>
          <p:cNvSpPr txBox="1"/>
          <p:nvPr/>
        </p:nvSpPr>
        <p:spPr>
          <a:xfrm>
            <a:off x="711200" y="3302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要点</a:t>
            </a:r>
            <a:endParaRPr lang="en-US" sz="1300" noProof="1"/>
          </a:p>
        </p:txBody>
      </p:sp>
      <p:sp>
        <p:nvSpPr>
          <p:cNvPr id="16" name="feat"/>
          <p:cNvSpPr txBox="1"/>
          <p:nvPr/>
        </p:nvSpPr>
        <p:spPr>
          <a:xfrm>
            <a:off x="711200" y="3606800"/>
            <a:ext cx="5334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定位：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Fowler 实测三款工具中最轻量的一款；主要处于 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spec-first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 层级。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Memory Bank = "steering"：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默认生成 product.md / structure.md / tech.md，内容灵活、非强制。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验收标准用 EARS 句式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（Easy Approach to Requirements Syntax），天然接近可判定的行为描述。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开源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，与 AWS 生态结合紧密。</a:t>
            </a:r>
            <a:endParaRPr lang="en-US" sz="1150" noProof="1"/>
          </a:p>
        </p:txBody>
      </p:sp>
      <p:sp>
        <p:nvSpPr>
          <p:cNvPr id="17" name="obs-box"/>
          <p:cNvSpPr/>
          <p:nvPr/>
        </p:nvSpPr>
        <p:spPr>
          <a:xfrm>
            <a:off x="6604000" y="3302000"/>
            <a:ext cx="4876800" cy="25908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18" name="obs-bar"/>
          <p:cNvSpPr/>
          <p:nvPr/>
        </p:nvSpPr>
        <p:spPr>
          <a:xfrm>
            <a:off x="6604000" y="3302000"/>
            <a:ext cx="38100" cy="2590800"/>
          </a:xfrm>
          <a:prstGeom prst="rect">
            <a:avLst/>
          </a:prstGeom>
          <a:solidFill>
            <a:srgbClr val="A63D63"/>
          </a:solidFill>
          <a:ln>
            <a:noFill/>
          </a:ln>
        </p:spPr>
      </p:sp>
      <p:sp>
        <p:nvSpPr>
          <p:cNvPr id="19" name="obs"/>
          <p:cNvSpPr txBox="1"/>
          <p:nvPr/>
        </p:nvSpPr>
        <p:spPr>
          <a:xfrm>
            <a:off x="6832600" y="3454400"/>
            <a:ext cx="4445000" cy="2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实测观察（Fowler 团队）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让它修一个小 bug，结果展开成 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4 个 user story、16 条验收标准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——"大锤砸核桃"。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官方示例均按单个任务/用户故事使用，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未说明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需求文档如何跨任务长期维护（spec-anchored）。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结论：适合任务级、故事级的轻量 spec-first；不适合直接套用到微小改动。</a:t>
            </a:r>
            <a:endParaRPr lang="en-US" sz="1600" noProof="1"/>
          </a:p>
        </p:txBody>
      </p:sp>
      <p:sp>
        <p:nvSpPr>
          <p:cNvPr id="20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Kiro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（2025-10）；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specdriven.com/landscape</a:t>
            </a:r>
            <a:endParaRPr lang="en-US" sz="800" noProof="1"/>
          </a:p>
        </p:txBody>
      </p:sp>
      <p:sp>
        <p:nvSpPr>
          <p:cNvPr id="21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12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02 · 工具全景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GitHub Spec Kit：宪法 + 三段式工作流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step0-box"/>
          <p:cNvSpPr/>
          <p:nvPr/>
        </p:nvSpPr>
        <p:spPr>
          <a:xfrm>
            <a:off x="711200" y="1651000"/>
            <a:ext cx="2286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6" name="step0"/>
          <p:cNvSpPr txBox="1"/>
          <p:nvPr/>
        </p:nvSpPr>
        <p:spPr>
          <a:xfrm>
            <a:off x="863600" y="1752600"/>
            <a:ext cx="1981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Constitution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950" noProof="1">
                <a:solidFill>
                  <a:srgbClr val="B9CCE8"/>
                </a:solidFill>
                <a:latin typeface="MiSans"/>
                <a:ea typeface="MiSans"/>
              </a:rPr>
              <a:t>项目宪法：不可变的高层原则，先决条件</a:t>
            </a:r>
            <a:endParaRPr lang="en-US" sz="1600" noProof="1"/>
          </a:p>
        </p:txBody>
      </p:sp>
      <p:sp>
        <p:nvSpPr>
          <p:cNvPr id="7" name="arr0"/>
          <p:cNvSpPr/>
          <p:nvPr>
            <p:extLst>
              <p:ext uri="{F5677B7D-0D2A-4D9B-9A5C-6D8D7D0E5A5D}">
                <pptd:line encoding="base64url">eyJ2aWV3Qm94IjpbMzYsMTZdLCJwb2ludHMiOiIwLDggMzYsOCIsImN1cnZlIjoic2hhcnAifQ</pptd:line>
              </p:ext>
            </p:extLst>
          </p:nvPr>
        </p:nvSpPr>
        <p:spPr>
          <a:xfrm>
            <a:off x="3048000" y="1981200"/>
            <a:ext cx="457200" cy="203200"/>
          </a:xfrm>
          <a:custGeom>
            <a:avLst/>
            <a:gdLst/>
            <a:ahLst/>
            <a:cxnLst/>
            <a:rect l="l" t="t" r="r" b="b"/>
            <a:pathLst>
              <a:path w="36" h="16">
                <a:moveTo>
                  <a:pt x="0" y="8"/>
                </a:moveTo>
                <a:lnTo>
                  <a:pt x="36" y="8"/>
                </a:lnTo>
              </a:path>
            </a:pathLst>
          </a:custGeom>
          <a:noFill/>
          <a:ln w="19050">
            <a:solidFill>
              <a:srgbClr val="636569"/>
            </a:solidFill>
            <a:tailEnd type="stealth"/>
          </a:ln>
        </p:spPr>
      </p:sp>
      <p:sp>
        <p:nvSpPr>
          <p:cNvPr id="8" name="step1-box"/>
          <p:cNvSpPr/>
          <p:nvPr/>
        </p:nvSpPr>
        <p:spPr>
          <a:xfrm>
            <a:off x="3556000" y="1651000"/>
            <a:ext cx="2438400" cy="9144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9" name="step1"/>
          <p:cNvSpPr txBox="1"/>
          <p:nvPr/>
        </p:nvSpPr>
        <p:spPr>
          <a:xfrm>
            <a:off x="3708400" y="17526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Specify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950" noProof="1">
                <a:solidFill>
                  <a:srgbClr val="3D434D"/>
                </a:solidFill>
                <a:latin typeface="MiSans"/>
                <a:ea typeface="MiSans"/>
              </a:rPr>
              <a:t>功能规格：做什么、为什么，澄清清单</a:t>
            </a:r>
            <a:endParaRPr lang="en-US" sz="1600" noProof="1"/>
          </a:p>
        </p:txBody>
      </p:sp>
      <p:sp>
        <p:nvSpPr>
          <p:cNvPr id="10" name="arr1"/>
          <p:cNvSpPr/>
          <p:nvPr>
            <p:extLst>
              <p:ext uri="{F5677B7D-0D2A-4D9B-9A5C-6D8D7D0E5A5D}">
                <pptd:line encoding="base64url">eyJ2aWV3Qm94IjpbMzYsMTZdLCJwb2ludHMiOiIwLDggMzYsOCIsImN1cnZlIjoic2hhcnAifQ</pptd:line>
              </p:ext>
            </p:extLst>
          </p:nvPr>
        </p:nvSpPr>
        <p:spPr>
          <a:xfrm>
            <a:off x="6045200" y="1981200"/>
            <a:ext cx="457200" cy="203200"/>
          </a:xfrm>
          <a:custGeom>
            <a:avLst/>
            <a:gdLst/>
            <a:ahLst/>
            <a:cxnLst/>
            <a:rect l="l" t="t" r="r" b="b"/>
            <a:pathLst>
              <a:path w="36" h="16">
                <a:moveTo>
                  <a:pt x="0" y="8"/>
                </a:moveTo>
                <a:lnTo>
                  <a:pt x="36" y="8"/>
                </a:lnTo>
              </a:path>
            </a:pathLst>
          </a:custGeom>
          <a:noFill/>
          <a:ln w="19050">
            <a:solidFill>
              <a:srgbClr val="636569"/>
            </a:solidFill>
            <a:tailEnd type="stealth"/>
          </a:ln>
        </p:spPr>
      </p:sp>
      <p:sp>
        <p:nvSpPr>
          <p:cNvPr id="11" name="step2-box"/>
          <p:cNvSpPr/>
          <p:nvPr/>
        </p:nvSpPr>
        <p:spPr>
          <a:xfrm>
            <a:off x="6553200" y="1651000"/>
            <a:ext cx="2438400" cy="9144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12" name="step2"/>
          <p:cNvSpPr txBox="1"/>
          <p:nvPr/>
        </p:nvSpPr>
        <p:spPr>
          <a:xfrm>
            <a:off x="6705600" y="17526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Plan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950" noProof="1">
                <a:solidFill>
                  <a:srgbClr val="3D434D"/>
                </a:solidFill>
                <a:latin typeface="MiSans"/>
                <a:ea typeface="MiSans"/>
              </a:rPr>
              <a:t>技术方案：研究笔记、数据模型、契约</a:t>
            </a:r>
            <a:endParaRPr lang="en-US" sz="1600" noProof="1"/>
          </a:p>
        </p:txBody>
      </p:sp>
      <p:sp>
        <p:nvSpPr>
          <p:cNvPr id="13" name="arr2"/>
          <p:cNvSpPr/>
          <p:nvPr>
            <p:extLst>
              <p:ext uri="{F5677B7D-0D2A-4D9B-9A5C-6D8D7D0E5A5D}">
                <pptd:line encoding="base64url">eyJ2aWV3Qm94IjpbMzYsMTZdLCJwb2ludHMiOiIwLDggMzYsOCIsImN1cnZlIjoic2hhcnAifQ</pptd:line>
              </p:ext>
            </p:extLst>
          </p:nvPr>
        </p:nvSpPr>
        <p:spPr>
          <a:xfrm>
            <a:off x="9042400" y="1981200"/>
            <a:ext cx="457200" cy="203200"/>
          </a:xfrm>
          <a:custGeom>
            <a:avLst/>
            <a:gdLst/>
            <a:ahLst/>
            <a:cxnLst/>
            <a:rect l="l" t="t" r="r" b="b"/>
            <a:pathLst>
              <a:path w="36" h="16">
                <a:moveTo>
                  <a:pt x="0" y="8"/>
                </a:moveTo>
                <a:lnTo>
                  <a:pt x="36" y="8"/>
                </a:lnTo>
              </a:path>
            </a:pathLst>
          </a:custGeom>
          <a:noFill/>
          <a:ln w="19050">
            <a:solidFill>
              <a:srgbClr val="636569"/>
            </a:solidFill>
            <a:tailEnd type="stealth"/>
          </a:ln>
        </p:spPr>
      </p:sp>
      <p:sp>
        <p:nvSpPr>
          <p:cNvPr id="14" name="step3-box"/>
          <p:cNvSpPr/>
          <p:nvPr/>
        </p:nvSpPr>
        <p:spPr>
          <a:xfrm>
            <a:off x="9550400" y="1651000"/>
            <a:ext cx="1930400" cy="9144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15" name="step3"/>
          <p:cNvSpPr txBox="1"/>
          <p:nvPr/>
        </p:nvSpPr>
        <p:spPr>
          <a:xfrm>
            <a:off x="9702800" y="1752600"/>
            <a:ext cx="1625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Tasks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950" noProof="1">
                <a:solidFill>
                  <a:srgbClr val="3D434D"/>
                </a:solidFill>
                <a:latin typeface="MiSans"/>
                <a:ea typeface="MiSans"/>
              </a:rPr>
              <a:t>可执行任务清单（后三步可循环迭代）</a:t>
            </a:r>
            <a:endParaRPr lang="en-US" sz="1600" noProof="1"/>
          </a:p>
        </p:txBody>
      </p:sp>
      <p:sp>
        <p:nvSpPr>
          <p:cNvPr id="16" name="flow-cap"/>
          <p:cNvSpPr txBox="1"/>
          <p:nvPr/>
        </p:nvSpPr>
        <p:spPr>
          <a:xfrm>
            <a:off x="711200" y="26924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CLI 分发，为多种编码助手生成工作区结构；通过斜杠命令交互；产物全部落在你的工作区——三者中最可定制</a:t>
            </a:r>
            <a:endParaRPr lang="en-US" sz="1000" noProof="1"/>
          </a:p>
        </p:txBody>
      </p:sp>
      <p:sp>
        <p:nvSpPr>
          <p:cNvPr id="17" name="mid-line"/>
          <p:cNvSpPr/>
          <p:nvPr/>
        </p:nvSpPr>
        <p:spPr>
          <a:xfrm>
            <a:off x="711200" y="30988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8" name="feat-label"/>
          <p:cNvSpPr txBox="1"/>
          <p:nvPr/>
        </p:nvSpPr>
        <p:spPr>
          <a:xfrm>
            <a:off x="711200" y="3302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要点</a:t>
            </a:r>
            <a:endParaRPr lang="en-US" sz="1300" noProof="1"/>
          </a:p>
        </p:txBody>
      </p:sp>
      <p:sp>
        <p:nvSpPr>
          <p:cNvPr id="19" name="feat"/>
          <p:cNvSpPr txBox="1"/>
          <p:nvPr/>
        </p:nvSpPr>
        <p:spPr>
          <a:xfrm>
            <a:off x="711200" y="3606800"/>
            <a:ext cx="53340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Constitution 是 Memory Bank 的强化版：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"不可变"原则被全流程重度引用，相当于强力规则文件。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每步用脚本+模板实例化一组文件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，内嵌检查清单（待澄清项、宪法违规、研究任务），充当各阶段的 DoD。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但清单由 AI 解读执行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，没有 100% 被遵守的保证。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开源（MIT）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，一个 spec 由多份文件组成。</a:t>
            </a:r>
            <a:endParaRPr lang="en-US" sz="1150" noProof="1"/>
          </a:p>
        </p:txBody>
      </p:sp>
      <p:sp>
        <p:nvSpPr>
          <p:cNvPr id="20" name="obs-box"/>
          <p:cNvSpPr/>
          <p:nvPr/>
        </p:nvSpPr>
        <p:spPr>
          <a:xfrm>
            <a:off x="6604000" y="3302000"/>
            <a:ext cx="4876800" cy="26416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21" name="obs-bar"/>
          <p:cNvSpPr/>
          <p:nvPr/>
        </p:nvSpPr>
        <p:spPr>
          <a:xfrm>
            <a:off x="6604000" y="3302000"/>
            <a:ext cx="38100" cy="2641600"/>
          </a:xfrm>
          <a:prstGeom prst="rect">
            <a:avLst/>
          </a:prstGeom>
          <a:solidFill>
            <a:srgbClr val="A63D63"/>
          </a:solidFill>
          <a:ln>
            <a:noFill/>
          </a:ln>
        </p:spPr>
      </p:sp>
      <p:sp>
        <p:nvSpPr>
          <p:cNvPr id="22" name="obs"/>
          <p:cNvSpPr txBox="1"/>
          <p:nvPr/>
        </p:nvSpPr>
        <p:spPr>
          <a:xfrm>
            <a:off x="6832600" y="3454400"/>
            <a:ext cx="4445000" cy="236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实测观察（Fowler 团队）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口径上追求 spec-anchored（"活的、可执行的产物"），但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每个 spec 建一个分支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——实际生命周期是"一次变更"而非"一个功能"，更像 spec-first。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产物量大：一个 3–5 点的故事生成了"读不完的 markdown"，评审负担明显（详见第 17 页）。</a:t>
            </a:r>
            <a:endParaRPr lang="en-US" sz="1600" noProof="1"/>
          </a:p>
        </p:txBody>
      </p:sp>
      <p:sp>
        <p:nvSpPr>
          <p:cNvPr id="23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Spec-kit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（2025-10）</a:t>
            </a:r>
            <a:endParaRPr lang="en-US" sz="800" noProof="1"/>
          </a:p>
        </p:txBody>
      </p:sp>
      <p:sp>
        <p:nvSpPr>
          <p:cNvPr id="24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13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02 · 工具全景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开源轻量派：OpenSpec · IntentSpec · cc-sdd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t1-name"/>
          <p:cNvSpPr txBox="1"/>
          <p:nvPr/>
        </p:nvSpPr>
        <p:spPr>
          <a:xfrm>
            <a:off x="711200" y="16256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OpenSpec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Fission AI · 开源 · Markdown + YAML</a:t>
            </a:r>
            <a:endParaRPr lang="en-US" sz="1600" noProof="1"/>
          </a:p>
        </p:txBody>
      </p:sp>
      <p:sp>
        <p:nvSpPr>
          <p:cNvPr id="6" name="t1"/>
          <p:cNvSpPr txBox="1"/>
          <p:nvPr/>
        </p:nvSpPr>
        <p:spPr>
          <a:xfrm>
            <a:off x="711200" y="2286000"/>
            <a:ext cx="33528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面向存量系统与迭代式演进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——与"从教程新建一个应用"的工具定位形成差异。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以"变更"为单位组织规格：提案、设计、任务与规格增量（delta）放入一个变更目录，评审通过后再合并回主规格。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结构上更接近 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spec-anchored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：规格是随功能长期维护的资产，而非一次性文档。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适合： brownfield 项目、持续演进的产品团队。</a:t>
            </a:r>
            <a:endParaRPr lang="en-US" sz="1100" noProof="1"/>
          </a:p>
        </p:txBody>
      </p:sp>
      <p:sp>
        <p:nvSpPr>
          <p:cNvPr id="7" name="d1"/>
          <p:cNvSpPr/>
          <p:nvPr/>
        </p:nvSpPr>
        <p:spPr>
          <a:xfrm>
            <a:off x="4318000" y="1625600"/>
            <a:ext cx="12700" cy="35560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8" name="t2-name"/>
          <p:cNvSpPr txBox="1"/>
          <p:nvPr/>
        </p:nvSpPr>
        <p:spPr>
          <a:xfrm>
            <a:off x="4622800" y="16256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IntentSpec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社区 · 开源 · 极简开放标准</a:t>
            </a:r>
            <a:endParaRPr lang="en-US" sz="1600" noProof="1"/>
          </a:p>
        </p:txBody>
      </p:sp>
      <p:sp>
        <p:nvSpPr>
          <p:cNvPr id="9" name="t2"/>
          <p:cNvSpPr txBox="1"/>
          <p:nvPr/>
        </p:nvSpPr>
        <p:spPr>
          <a:xfrm>
            <a:off x="4622800" y="2286000"/>
            <a:ext cx="33528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把 SDD 压缩到最小可用单元：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代码旁提交一个 intent.md，写清目标、预期结果、约束与边界情况。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YAML frontmatter 用 JSON Schema 校验；三步上手：定义 intent.md → 在 Agent 上下文中引用 → 加 GitHub Action 做校验。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零锁定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，但难以扩展到多组件协作的复杂系统。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适合：想最低成本试水 spec-first 的团队。</a:t>
            </a:r>
            <a:endParaRPr lang="en-US" sz="1100" noProof="1"/>
          </a:p>
        </p:txBody>
      </p:sp>
      <p:sp>
        <p:nvSpPr>
          <p:cNvPr id="10" name="d2"/>
          <p:cNvSpPr/>
          <p:nvPr/>
        </p:nvSpPr>
        <p:spPr>
          <a:xfrm>
            <a:off x="8229600" y="1625600"/>
            <a:ext cx="12700" cy="35560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1" name="t3-name"/>
          <p:cNvSpPr txBox="1"/>
          <p:nvPr/>
        </p:nvSpPr>
        <p:spPr>
          <a:xfrm>
            <a:off x="8534400" y="16256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cc-sdd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社区 · 开源 · Markdown 工作流</a:t>
            </a:r>
            <a:endParaRPr lang="en-US" sz="1600" noProof="1"/>
          </a:p>
        </p:txBody>
      </p:sp>
      <p:sp>
        <p:nvSpPr>
          <p:cNvPr id="12" name="t3"/>
          <p:cNvSpPr txBox="1"/>
          <p:nvPr/>
        </p:nvSpPr>
        <p:spPr>
          <a:xfrm>
            <a:off x="8534400" y="2286000"/>
            <a:ext cx="29464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把 Kiro 式工作流带到更多编码工具：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steering / spec / design / tasks 三阶段模式，移植到 Claude Code、Codex 等环境。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适合已在用这些编码 Agent、希望直接复用 Kiro 方法论而不换 IDE 的团队。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定位：方法论的可携带实现，而非独立新产品。</a:t>
            </a:r>
            <a:endParaRPr lang="en-US" sz="1100" noProof="1"/>
          </a:p>
        </p:txBody>
      </p:sp>
      <p:sp>
        <p:nvSpPr>
          <p:cNvPr id="13" name="bottom-box"/>
          <p:cNvSpPr/>
          <p:nvPr/>
        </p:nvSpPr>
        <p:spPr>
          <a:xfrm>
            <a:off x="711200" y="5384800"/>
            <a:ext cx="10769600" cy="7620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14" name="bottom-bar"/>
          <p:cNvSpPr/>
          <p:nvPr/>
        </p:nvSpPr>
        <p:spPr>
          <a:xfrm>
            <a:off x="711200" y="5384800"/>
            <a:ext cx="38100" cy="7620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5" name="bottom"/>
          <p:cNvSpPr txBox="1"/>
          <p:nvPr/>
        </p:nvSpPr>
        <p:spPr>
          <a:xfrm>
            <a:off x="965200" y="5486400"/>
            <a:ext cx="10261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轻量派的共同逻辑：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先用最小结构证明"写 spec 有用"，再决定是否引入更重的流程——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对入门团队而言，这比一上来就全套工作流更容易存活下来。</a:t>
            </a:r>
            <a:endParaRPr lang="en-US" sz="1150" noProof="1"/>
          </a:p>
        </p:txBody>
      </p:sp>
      <p:sp>
        <p:nvSpPr>
          <p:cNvPr id="16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specdriven.com — Tool Profiles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（2026 年访问）</a:t>
            </a:r>
            <a:endParaRPr lang="en-US" sz="800" noProof="1"/>
          </a:p>
        </p:txBody>
      </p:sp>
      <p:sp>
        <p:nvSpPr>
          <p:cNvPr id="17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14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02 · 工具全景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团队与企业级：BMAD · Intent · Auto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t1-name"/>
          <p:cNvSpPr txBox="1"/>
          <p:nvPr/>
        </p:nvSpPr>
        <p:spPr>
          <a:xfrm>
            <a:off x="711200" y="16256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BMAD-METHOD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社区 · 开源 · 多 Agent 框架</a:t>
            </a:r>
            <a:endParaRPr lang="en-US" sz="1600" noProof="1"/>
          </a:p>
        </p:txBody>
      </p:sp>
      <p:sp>
        <p:nvSpPr>
          <p:cNvPr id="6" name="t1"/>
          <p:cNvSpPr txBox="1"/>
          <p:nvPr/>
        </p:nvSpPr>
        <p:spPr>
          <a:xfrm>
            <a:off x="711200" y="2286000"/>
            <a:ext cx="3352800" cy="284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用 AI 角色模拟一整支敏捷团队：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分析师、产品经理、架构师、开发、QA、Scrum Master，每个角色都是一个 "Agent-as-Code" Markdown 文件。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强制结构化生命周期：分析 → 规划 → 方案设计 → 实现。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产物经 Git 版本化，强调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全程可追溯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；适配 Claude Code、Cursor、VS Code。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适合：想把"需求→交付"全流程都纳入 AI 协作的团队。</a:t>
            </a:r>
            <a:endParaRPr lang="en-US" sz="1100" noProof="1"/>
          </a:p>
        </p:txBody>
      </p:sp>
      <p:sp>
        <p:nvSpPr>
          <p:cNvPr id="7" name="d1"/>
          <p:cNvSpPr/>
          <p:nvPr/>
        </p:nvSpPr>
        <p:spPr>
          <a:xfrm>
            <a:off x="4318000" y="1625600"/>
            <a:ext cx="12700" cy="36068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8" name="t2-name"/>
          <p:cNvSpPr txBox="1"/>
          <p:nvPr/>
        </p:nvSpPr>
        <p:spPr>
          <a:xfrm>
            <a:off x="4622800" y="16256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Intent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Augment Code · 商业 · 企业级</a:t>
            </a:r>
            <a:endParaRPr lang="en-US" sz="1600" noProof="1"/>
          </a:p>
        </p:txBody>
      </p:sp>
      <p:sp>
        <p:nvSpPr>
          <p:cNvPr id="9" name="t2"/>
          <p:cNvSpPr txBox="1"/>
          <p:nvPr/>
        </p:nvSpPr>
        <p:spPr>
          <a:xfrm>
            <a:off x="4622800" y="2286000"/>
            <a:ext cx="3352800" cy="284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面向企业与多仓库场景的"活规格"：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规格随实现同步更新，保持文档与代码不脱节。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但注意：活文档是"跟着实现走"，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并不独立验证正确性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——它回答"系统现在是什么样"，不回答"系统是否做对了"。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适合：多团队、多仓库，首要痛点是文档腐化与上下文不一致的组织。</a:t>
            </a:r>
            <a:endParaRPr lang="en-US" sz="1100" noProof="1"/>
          </a:p>
        </p:txBody>
      </p:sp>
      <p:sp>
        <p:nvSpPr>
          <p:cNvPr id="10" name="d2"/>
          <p:cNvSpPr/>
          <p:nvPr/>
        </p:nvSpPr>
        <p:spPr>
          <a:xfrm>
            <a:off x="8229600" y="1625600"/>
            <a:ext cx="12700" cy="36068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1" name="t3-name"/>
          <p:cNvSpPr txBox="1"/>
          <p:nvPr/>
        </p:nvSpPr>
        <p:spPr>
          <a:xfrm>
            <a:off x="8534400" y="16256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0A2240"/>
                </a:solidFill>
                <a:latin typeface="MiSans"/>
                <a:ea typeface="MiSans"/>
              </a:rPr>
              <a:t>Auto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36569"/>
                </a:solidFill>
                <a:latin typeface="MiSans"/>
                <a:ea typeface="MiSans"/>
              </a:rPr>
              <a:t>Auto · 商业 · 可执行规格</a:t>
            </a:r>
            <a:endParaRPr lang="en-US" sz="1600" noProof="1"/>
          </a:p>
        </p:txBody>
      </p:sp>
      <p:sp>
        <p:nvSpPr>
          <p:cNvPr id="12" name="t3"/>
          <p:cNvSpPr txBox="1"/>
          <p:nvPr/>
        </p:nvSpPr>
        <p:spPr>
          <a:xfrm>
            <a:off x="8534400" y="2286000"/>
            <a:ext cx="2946400" cy="284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全景中少见的"可执行"派：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以 NDD 模型/工作流描述业务应用，规格本身可执行。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直面第 9 页的"可执行性鸿沟"，试图恢复 BDD 时代"规格通过即事实"的能力。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闭源，面向业务应用（line-of-business）。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36569"/>
                </a:solidFill>
                <a:latin typeface="MiSans"/>
                <a:ea typeface="MiSans"/>
              </a:rPr>
              <a:t>适合：对规格可验证性有强诉求的业务应用团队。</a:t>
            </a:r>
            <a:endParaRPr lang="en-US" sz="1100" noProof="1"/>
          </a:p>
        </p:txBody>
      </p:sp>
      <p:sp>
        <p:nvSpPr>
          <p:cNvPr id="13" name="bottom-box"/>
          <p:cNvSpPr/>
          <p:nvPr/>
        </p:nvSpPr>
        <p:spPr>
          <a:xfrm>
            <a:off x="711200" y="5435600"/>
            <a:ext cx="10769600" cy="7112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14" name="bottom-bar"/>
          <p:cNvSpPr/>
          <p:nvPr/>
        </p:nvSpPr>
        <p:spPr>
          <a:xfrm>
            <a:off x="711200" y="5435600"/>
            <a:ext cx="38100" cy="7112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5" name="bottom"/>
          <p:cNvSpPr txBox="1"/>
          <p:nvPr/>
        </p:nvSpPr>
        <p:spPr>
          <a:xfrm>
            <a:off x="965200" y="5537200"/>
            <a:ext cx="10261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选型视角：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三款工具分别押注三个方向——AI 角色化协作（BMAD）、企业级上下文一致性（Intent）、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规格可执行性（Auto）。你团队最大的痛点是哪一个，决定了先评估谁。</a:t>
            </a:r>
            <a:endParaRPr lang="en-US" sz="1150" noProof="1"/>
          </a:p>
        </p:txBody>
      </p:sp>
      <p:sp>
        <p:nvSpPr>
          <p:cNvPr id="16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specdriven.com — Tool Profiles / Tool Overview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（2026 年访问）</a:t>
            </a:r>
            <a:endParaRPr lang="en-US" sz="800" noProof="1"/>
          </a:p>
        </p:txBody>
      </p:sp>
      <p:sp>
        <p:nvSpPr>
          <p:cNvPr id="17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15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03 · 冷静看待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实践者的真实反馈：早期信号，喜忧参半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pos-label"/>
          <p:cNvSpPr txBox="1"/>
          <p:nvPr/>
        </p:nvSpPr>
        <p:spPr>
          <a:xfrm>
            <a:off x="711200" y="1574800"/>
            <a:ext cx="518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524C"/>
                </a:solidFill>
                <a:latin typeface="MiSans"/>
                <a:ea typeface="MiSans"/>
              </a:rPr>
              <a:t>值得关注的正面信号</a:t>
            </a:r>
            <a:endParaRPr lang="en-US" sz="1300" noProof="1"/>
          </a:p>
        </p:txBody>
      </p:sp>
      <p:sp>
        <p:nvSpPr>
          <p:cNvPr id="6" name="pos1"/>
          <p:cNvSpPr txBox="1"/>
          <p:nvPr/>
        </p:nvSpPr>
        <p:spPr>
          <a:xfrm>
            <a:off x="711200" y="1930400"/>
            <a:ext cx="51816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Kiro × 达美航空（AWS re:Invent 2025）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不写代码的业务人员借助结构化规格生成了生产级原型——验证 SDD 可以服务非开发者，而不只是工程团队。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Tessl "build it twice" 实验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规格显式定义正确行为后，vibe coding 版本中"编造数据"的问题被当场捕获。</a:t>
            </a:r>
            <a:endParaRPr lang="en-US" sz="1150" noProof="1"/>
          </a:p>
        </p:txBody>
      </p:sp>
      <p:sp>
        <p:nvSpPr>
          <p:cNvPr id="7" name="neg-label"/>
          <p:cNvSpPr txBox="1"/>
          <p:nvPr/>
        </p:nvSpPr>
        <p:spPr>
          <a:xfrm>
            <a:off x="6299200" y="1574800"/>
            <a:ext cx="518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63D63"/>
                </a:solidFill>
                <a:latin typeface="MiSans"/>
                <a:ea typeface="MiSans"/>
              </a:rPr>
              <a:t>同样值得认真对待的批评</a:t>
            </a:r>
            <a:endParaRPr lang="en-US" sz="1300" noProof="1"/>
          </a:p>
        </p:txBody>
      </p:sp>
      <p:sp>
        <p:nvSpPr>
          <p:cNvPr id="8" name="neg1"/>
          <p:cNvSpPr txBox="1"/>
          <p:nvPr/>
        </p:nvSpPr>
        <p:spPr>
          <a:xfrm>
            <a:off x="6299200" y="1930400"/>
            <a:ext cx="51816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Scott Logic 评 Spec Kit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"一片 markdown 的海洋"、"意料之外的摩擦"。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Marmelab 书评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标题即观点："The Waterfall Strikes Back"（瀑布式开发回潮）。</a:t>
            </a:r>
            <a:endParaRPr lang="en-US" sz="1150" noProof="1"/>
          </a:p>
        </p:txBody>
      </p:sp>
      <p:sp>
        <p:nvSpPr>
          <p:cNvPr id="9" name="mid-line"/>
          <p:cNvSpPr/>
          <p:nvPr/>
        </p:nvSpPr>
        <p:spPr>
          <a:xfrm>
            <a:off x="711200" y="38100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0" name="prezi-label"/>
          <p:cNvSpPr txBox="1"/>
          <p:nvPr/>
        </p:nvSpPr>
        <p:spPr>
          <a:xfrm>
            <a:off x="711200" y="4013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Prezi 工程团队案例（"We Tried SDD So You Don't Have To"）</a:t>
            </a:r>
            <a:endParaRPr lang="en-US" sz="1300" noProof="1"/>
          </a:p>
        </p:txBody>
      </p:sp>
      <p:sp>
        <p:nvSpPr>
          <p:cNvPr id="11" name="prezi"/>
          <p:cNvSpPr txBox="1"/>
          <p:nvPr/>
        </p:nvSpPr>
        <p:spPr>
          <a:xfrm>
            <a:off x="711200" y="4318000"/>
            <a:ext cx="10769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结果喜忧参半。最值得注意的发现：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开发者直接修改代码，在 SDD 工作流中成了一种"反模式"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——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这与多数团队现有的开发文化直接冲突：我们习惯了"代码是最终裁决者"，而 SDD 要求一切变更先回到规格。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这不是工具问题，而是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工作方式与心智模型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的迁移成本，落地前要有预期。</a:t>
            </a:r>
            <a:endParaRPr lang="en-US" sz="1150" noProof="1"/>
          </a:p>
        </p:txBody>
      </p:sp>
      <p:sp>
        <p:nvSpPr>
          <p:cNvPr id="12" name="bottom-box"/>
          <p:cNvSpPr/>
          <p:nvPr/>
        </p:nvSpPr>
        <p:spPr>
          <a:xfrm>
            <a:off x="711200" y="5867400"/>
            <a:ext cx="10769600" cy="4318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13" name="bottom"/>
          <p:cNvSpPr txBox="1"/>
          <p:nvPr/>
        </p:nvSpPr>
        <p:spPr>
          <a:xfrm>
            <a:off x="914400" y="5867400"/>
            <a:ext cx="1036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如何读这些信号：它们是早期证据而非定论——工具成熟很快，六个月后的格局可能明显不同；保持跟踪，小步验证。</a:t>
            </a:r>
            <a:endParaRPr lang="en-US" sz="1100" noProof="1"/>
          </a:p>
        </p:txBody>
      </p:sp>
      <p:sp>
        <p:nvSpPr>
          <p:cNvPr id="14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specdriven.com — What Practitioners Are Saying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（2026 年访问）</a:t>
            </a:r>
            <a:endParaRPr lang="en-US" sz="800" noProof="1"/>
          </a:p>
        </p:txBody>
      </p:sp>
      <p:sp>
        <p:nvSpPr>
          <p:cNvPr id="15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16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03 · 冷静看待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落地挑战（一）：流程一刀切，Markdown 评审过载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c1-label"/>
          <p:cNvSpPr txBox="1"/>
          <p:nvPr/>
        </p:nvSpPr>
        <p:spPr>
          <a:xfrm>
            <a:off x="711200" y="16002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挑战 1 · 一套流程想通吃所有问题规模？</a:t>
            </a:r>
            <a:endParaRPr lang="en-US" sz="1400" noProof="1"/>
          </a:p>
        </p:txBody>
      </p:sp>
      <p:sp>
        <p:nvSpPr>
          <p:cNvPr id="6" name="c1"/>
          <p:cNvSpPr txBox="1"/>
          <p:nvPr/>
        </p:nvSpPr>
        <p:spPr>
          <a:xfrm>
            <a:off x="711200" y="1955800"/>
            <a:ext cx="107696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现象：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Kiro 与 Spec Kit 各提供一套"有主见"的流程，但现实中的变更大小差异巨大。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· 修一个小 bug → 被展开成 4 个 user story、16 条验收标准，"大锤砸核桃"；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· 一个 3–5 点的功能 → Spec Kit 产出的步骤与文件量让人中途放弃，"同样的时间用普通 AI 辅助编码早就做完了，而且更有掌控感"。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要求：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有效的 SDD 工具至少应为不同规模、不同类型的变更提供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几种核心流程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，而非唯一流程。</a:t>
            </a:r>
            <a:endParaRPr lang="en-US" sz="1200" noProof="1"/>
          </a:p>
        </p:txBody>
      </p:sp>
      <p:sp>
        <p:nvSpPr>
          <p:cNvPr id="7" name="mid-line"/>
          <p:cNvSpPr/>
          <p:nvPr/>
        </p:nvSpPr>
        <p:spPr>
          <a:xfrm>
            <a:off x="711200" y="3632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8" name="c2-label"/>
          <p:cNvSpPr txBox="1"/>
          <p:nvPr/>
        </p:nvSpPr>
        <p:spPr>
          <a:xfrm>
            <a:off x="711200" y="38354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挑战 2 · 评审 Markdown，还是评审代码？</a:t>
            </a:r>
            <a:endParaRPr lang="en-US" sz="1400" noProof="1"/>
          </a:p>
        </p:txBody>
      </p:sp>
      <p:sp>
        <p:nvSpPr>
          <p:cNvPr id="9" name="c2"/>
          <p:cNvSpPr txBox="1"/>
          <p:nvPr/>
        </p:nvSpPr>
        <p:spPr>
          <a:xfrm>
            <a:off x="711200" y="4191000"/>
            <a:ext cx="107696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现象：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重型流程产出的文档彼此重复、与既有代码信息重叠，有的已内含代码——冗长、乏味、难以认真评审。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Fowler 的原话值得记住：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"坦白说，我宁愿评审代码，也不愿评审这一堆 markdown 文件。"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要求：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如果评审体验不解决，规格就会沦为"写了没人看"的仪式性产物——那比没有规格更糟。</a:t>
            </a:r>
            <a:endParaRPr lang="en-US" sz="1200" noProof="1"/>
          </a:p>
        </p:txBody>
      </p:sp>
      <p:sp>
        <p:nvSpPr>
          <p:cNvPr id="10" name="bottom-box"/>
          <p:cNvSpPr/>
          <p:nvPr/>
        </p:nvSpPr>
        <p:spPr>
          <a:xfrm>
            <a:off x="711200" y="5740400"/>
            <a:ext cx="10769600" cy="508000"/>
          </a:xfrm>
          <a:prstGeom prst="rect">
            <a:avLst/>
          </a:prstGeom>
          <a:solidFill>
            <a:srgbClr val="EAF6FC"/>
          </a:solidFill>
          <a:ln>
            <a:noFill/>
          </a:ln>
        </p:spPr>
      </p:sp>
      <p:sp>
        <p:nvSpPr>
          <p:cNvPr id="11" name="bottom"/>
          <p:cNvSpPr txBox="1"/>
          <p:nvPr/>
        </p:nvSpPr>
        <p:spPr>
          <a:xfrm>
            <a:off x="914400" y="57404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50" noProof="1">
                <a:solidFill>
                  <a:srgbClr val="0A2240"/>
                </a:solidFill>
                <a:latin typeface="MiSans"/>
                <a:ea typeface="MiSans"/>
              </a:rPr>
              <a:t>团队自查：我们的流程里，每份规格的"读者"是谁？他愿意花几分钟读完？读不完的部分，能不能不写？</a:t>
            </a:r>
            <a:endParaRPr lang="en-US" sz="1150" noProof="1"/>
          </a:p>
        </p:txBody>
      </p:sp>
      <p:sp>
        <p:nvSpPr>
          <p:cNvPr id="12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Observations and questions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（2025-10）</a:t>
            </a:r>
            <a:endParaRPr lang="en-US" sz="800" noProof="1"/>
          </a:p>
        </p:txBody>
      </p:sp>
      <p:sp>
        <p:nvSpPr>
          <p:cNvPr id="13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17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03 · 冷静看待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落地挑战（二）：虚假的控制感与模糊的边界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c3-label"/>
          <p:cNvSpPr txBox="1"/>
          <p:nvPr/>
        </p:nvSpPr>
        <p:spPr>
          <a:xfrm>
            <a:off x="711200" y="16002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挑战 3 · 文件、模板、检查清单 ≠ 控制</a:t>
            </a:r>
            <a:endParaRPr lang="en-US" sz="1400" noProof="1"/>
          </a:p>
        </p:txBody>
      </p:sp>
      <p:sp>
        <p:nvSpPr>
          <p:cNvPr id="6" name="c3"/>
          <p:cNvSpPr txBox="1"/>
          <p:nvPr/>
        </p:nvSpPr>
        <p:spPr>
          <a:xfrm>
            <a:off x="711200" y="1930400"/>
            <a:ext cx="107696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上下文窗口变大，不等于 AI 会吸收其中的一切。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实测中 Agent 频繁不完全遵循指示：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· 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忽略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：把"现有代码的研究笔记"当成新规格，重复生成了一遍既有类，造成重复代码；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· 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过度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：因急于服从某条宪法原则而过度发挥，走得太远。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历史反复证明：保持控制的最好方式是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小步迭代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——而"小而频繁的工作包"几乎与重型 SDD 流程天然冲突，这是需要正面化解的张力。</a:t>
            </a:r>
            <a:endParaRPr lang="en-US" sz="1200" noProof="1"/>
          </a:p>
        </p:txBody>
      </p:sp>
      <p:sp>
        <p:nvSpPr>
          <p:cNvPr id="7" name="mid-line"/>
          <p:cNvSpPr/>
          <p:nvPr/>
        </p:nvSpPr>
        <p:spPr>
          <a:xfrm>
            <a:off x="711200" y="35814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8" name="c4-label"/>
          <p:cNvSpPr txBox="1"/>
          <p:nvPr/>
        </p:nvSpPr>
        <p:spPr>
          <a:xfrm>
            <a:off x="711200" y="3784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挑战 4 · 功能与技术规格难分</a:t>
            </a:r>
            <a:endParaRPr lang="en-US" sz="1400" noProof="1"/>
          </a:p>
        </p:txBody>
      </p:sp>
      <p:sp>
        <p:nvSpPr>
          <p:cNvPr id="9" name="c4"/>
          <p:cNvSpPr txBox="1"/>
          <p:nvPr/>
        </p:nvSpPr>
        <p:spPr>
          <a:xfrm>
            <a:off x="711200" y="4140200"/>
            <a:ext cx="5334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SDD 的理想是功能意图与技术实现分离——同一份功能 spec，AI 补全方案、甚至换技术栈。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实践中却频繁困惑"这一步该停在功能层面还是该写技术细节"，文档口径也不一致。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而我们行业在"需求与实现分离"上的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历史往绩并不好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（想想那些混入实现细节的 user story）。</a:t>
            </a:r>
            <a:endParaRPr lang="en-US" sz="1200" noProof="1"/>
          </a:p>
        </p:txBody>
      </p:sp>
      <p:sp>
        <p:nvSpPr>
          <p:cNvPr id="10" name="c5-label"/>
          <p:cNvSpPr txBox="1"/>
          <p:nvPr/>
        </p:nvSpPr>
        <p:spPr>
          <a:xfrm>
            <a:off x="6604000" y="37846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A2240"/>
                </a:solidFill>
                <a:latin typeface="MiSans"/>
                <a:ea typeface="MiSans"/>
              </a:rPr>
              <a:t>挑战 5 · 目标用户到底是谁？</a:t>
            </a:r>
            <a:endParaRPr lang="en-US" sz="1400" noProof="1"/>
          </a:p>
        </p:txBody>
      </p:sp>
      <p:sp>
        <p:nvSpPr>
          <p:cNvPr id="11" name="c5"/>
          <p:cNvSpPr txBox="1"/>
          <p:nvPr/>
        </p:nvSpPr>
        <p:spPr>
          <a:xfrm>
            <a:off x="6604000" y="4140200"/>
            <a:ext cx="48768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工具演示默认开发者来定义产品目标、写"用户故事"——这是跨技能赋能，还是角色越界？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大而模糊的需求需要专业需求能力、干系人研究与澄清，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SDD 并未回答这部分从哪来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落地前先想清楚：spec 由谁写、谁评审、谁裁决。</a:t>
            </a:r>
            <a:endParaRPr lang="en-US" sz="1200" noProof="1"/>
          </a:p>
        </p:txBody>
      </p:sp>
      <p:sp>
        <p:nvSpPr>
          <p:cNvPr id="12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Observations and questions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（2025-10）</a:t>
            </a:r>
            <a:endParaRPr lang="en-US" sz="800" noProof="1"/>
          </a:p>
        </p:txBody>
      </p:sp>
      <p:sp>
        <p:nvSpPr>
          <p:cNvPr id="13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18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03 · 冷静看待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历史之问：spec-as-source 会不会重蹈 MDD 覆辙？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cmp-h1"/>
          <p:cNvSpPr txBox="1"/>
          <p:nvPr/>
        </p:nvSpPr>
        <p:spPr>
          <a:xfrm>
            <a:off x="711200" y="1600200"/>
            <a:ext cx="518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36569"/>
                </a:solidFill>
                <a:latin typeface="MiSans"/>
                <a:ea typeface="MiSans"/>
              </a:rPr>
              <a:t>MDD（模型驱动开发），2000s–2010s</a:t>
            </a:r>
            <a:endParaRPr lang="en-US" sz="1300" noProof="1"/>
          </a:p>
        </p:txBody>
      </p:sp>
      <p:sp>
        <p:nvSpPr>
          <p:cNvPr id="6" name="cmp-h2"/>
          <p:cNvSpPr txBox="1"/>
          <p:nvPr/>
        </p:nvSpPr>
        <p:spPr>
          <a:xfrm>
            <a:off x="6299200" y="1600200"/>
            <a:ext cx="518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SDD / spec-as-source，2025–</a:t>
            </a:r>
            <a:endParaRPr lang="en-US" sz="1300" noProof="1"/>
          </a:p>
        </p:txBody>
      </p:sp>
      <p:sp>
        <p:nvSpPr>
          <p:cNvPr id="7" name="cmp-l"/>
          <p:cNvSpPr txBox="1"/>
          <p:nvPr/>
        </p:nvSpPr>
        <p:spPr>
          <a:xfrm>
            <a:off x="711200" y="1930400"/>
            <a:ext cx="51816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模型即规格：用 UML 变体或文本 DSL 表达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自建代码生成器把模型转成代码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结局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：抽象层级尴尬、开销与约束过大，未在业务应用普及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但被忽视的遗产：可解析的规格语言让工具能帮你校验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合法性、完整性与一致性</a:t>
            </a:r>
            <a:endParaRPr lang="en-US" sz="1150" noProof="1"/>
          </a:p>
        </p:txBody>
      </p:sp>
      <p:sp>
        <p:nvSpPr>
          <p:cNvPr id="8" name="cmp-r"/>
          <p:cNvSpPr txBox="1"/>
          <p:nvPr/>
        </p:nvSpPr>
        <p:spPr>
          <a:xfrm>
            <a:off x="6299200" y="1930400"/>
            <a:ext cx="51816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规格即源码：用自然语言 Markdown 表达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LLM 充当"代码生成器"，无需自建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带走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了 MDD 的部分开销与刚性约束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3D434D"/>
                </a:solidFill>
                <a:latin typeface="MiSans"/>
                <a:ea typeface="MiSans"/>
              </a:rPr>
              <a:t>代价</a:t>
            </a:r>
            <a:r>
              <a:rPr lang="en-US" sz="1150" noProof="1">
                <a:solidFill>
                  <a:srgbClr val="3D434D"/>
                </a:solidFill>
                <a:latin typeface="MiSans"/>
                <a:ea typeface="MiSans"/>
              </a:rPr>
              <a:t>：引入非确定性（同一 spec 多次生成结果不同）；失去可解析结构带来的工具校验支持</a:t>
            </a:r>
            <a:endParaRPr lang="en-US" sz="1150" noProof="1"/>
          </a:p>
        </p:txBody>
      </p:sp>
      <p:sp>
        <p:nvSpPr>
          <p:cNvPr id="9" name="mid-line"/>
          <p:cNvSpPr/>
          <p:nvPr/>
        </p:nvSpPr>
        <p:spPr>
          <a:xfrm>
            <a:off x="711200" y="4267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0" name="question-box"/>
          <p:cNvSpPr/>
          <p:nvPr/>
        </p:nvSpPr>
        <p:spPr>
          <a:xfrm>
            <a:off x="711200" y="4470400"/>
            <a:ext cx="10769600" cy="812800"/>
          </a:xfrm>
          <a:prstGeom prst="rect">
            <a:avLst/>
          </a:prstGeom>
          <a:solidFill>
            <a:srgbClr val="0A2240"/>
          </a:solidFill>
          <a:ln>
            <a:noFill/>
          </a:ln>
        </p:spPr>
      </p:sp>
      <p:sp>
        <p:nvSpPr>
          <p:cNvPr id="11" name="question"/>
          <p:cNvSpPr txBox="1"/>
          <p:nvPr/>
        </p:nvSpPr>
        <p:spPr>
          <a:xfrm>
            <a:off x="965200" y="4470400"/>
            <a:ext cx="10261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Fowler 之问：</a:t>
            </a:r>
            <a:r>
              <a:rPr lang="en-US" sz="1300" noProof="1">
                <a:solidFill>
                  <a:srgbClr val="FFFFFF"/>
                </a:solidFill>
                <a:latin typeface="MiSans"/>
                <a:ea typeface="MiSans"/>
              </a:rPr>
              <a:t>LLM 解决了 MDD 的灵活性问题，还是引入了新问题？</a:t>
            </a:r>
            <a:endParaRPr lang="en-US" sz="1300" noProof="1"/>
          </a:p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FFFFFF"/>
                </a:solidFill>
                <a:latin typeface="MiSans"/>
                <a:ea typeface="MiSans"/>
              </a:rPr>
              <a:t>spec-as-source 会不会最终同时继承——MDD 的不灵活，和 LLM 的非确定性？</a:t>
            </a:r>
            <a:endParaRPr lang="en-US" sz="1300" noProof="1"/>
          </a:p>
        </p:txBody>
      </p:sp>
      <p:sp>
        <p:nvSpPr>
          <p:cNvPr id="12" name="word"/>
          <p:cNvSpPr txBox="1"/>
          <p:nvPr/>
        </p:nvSpPr>
        <p:spPr>
          <a:xfrm>
            <a:off x="711200" y="55118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最后记住这个德语词：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Verschlimmbesserung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——"想把事情变好，结果弄得更糟"。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如果 SDD 只是把我们既有的重型流程原样喂给 AI，它放大的可能不是效率，而是</a:t>
            </a:r>
            <a:r>
              <a:rPr lang="en-US" sz="1200" noProof="1" b="1">
                <a:solidFill>
                  <a:srgbClr val="3D434D"/>
                </a:solidFill>
                <a:latin typeface="MiSans"/>
                <a:ea typeface="MiSans"/>
              </a:rPr>
              <a:t>评审过载与幻觉</a:t>
            </a:r>
            <a:r>
              <a:rPr lang="en-US" sz="1200" noProof="1">
                <a:solidFill>
                  <a:srgbClr val="3D434D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</p:txBody>
      </p:sp>
      <p:sp>
        <p:nvSpPr>
          <p:cNvPr id="13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来源：</a:t>
            </a:r>
            <a:r>
              <a:rPr lang="en-US" sz="8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martinfowler.com — Are we learning from the past? / Conclusions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（2025-10）</a:t>
            </a:r>
            <a:endParaRPr lang="en-US" sz="800" noProof="1"/>
          </a:p>
        </p:txBody>
      </p:sp>
      <p:sp>
        <p:nvSpPr>
          <p:cNvPr id="14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19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 b="1" spc="300" kern="0">
                <a:solidFill>
                  <a:srgbClr val="33B5E7"/>
                </a:solidFill>
                <a:latin typeface="MiSans"/>
                <a:ea typeface="MiSans"/>
              </a:rPr>
              <a:t>04 · 开始行动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 spc="100" kern="0">
                <a:solidFill>
                  <a:srgbClr val="0A2240"/>
                </a:solidFill>
                <a:latin typeface="MiSans"/>
                <a:ea typeface="MiSans"/>
              </a:rPr>
              <a:t>团队起步清单：六步走，从下周开始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462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5" name="s1"/>
          <p:cNvSpPr txBox="1"/>
          <p:nvPr/>
        </p:nvSpPr>
        <p:spPr>
          <a:xfrm>
            <a:off x="711200" y="15748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1　从 spec-first 起步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先让"写代码前先写 spec"成为习惯，不急于追求 spec-as-source。</a:t>
            </a:r>
            <a:endParaRPr lang="en-US" sz="1600" noProof="1"/>
          </a:p>
        </p:txBody>
      </p:sp>
      <p:sp>
        <p:nvSpPr>
          <p:cNvPr id="6" name="s2"/>
          <p:cNvSpPr txBox="1"/>
          <p:nvPr/>
        </p:nvSpPr>
        <p:spPr>
          <a:xfrm>
            <a:off x="6299200" y="1574800"/>
            <a:ext cx="5181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2　按变更规模分级流程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小修补走 intent.md 级轻量 spec；新功能才走完整流程——拒绝一刀切。</a:t>
            </a:r>
            <a:endParaRPr lang="en-US" sz="1600" noProof="1"/>
          </a:p>
        </p:txBody>
      </p:sp>
      <p:sp>
        <p:nvSpPr>
          <p:cNvPr id="7" name="s3"/>
          <p:cNvSpPr txBox="1"/>
          <p:nvPr/>
        </p:nvSpPr>
        <p:spPr>
          <a:xfrm>
            <a:off x="711200" y="24892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3　先建 Memory Bank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沉淀 AGENTS.md、架构与编码规范，再谈 spec 模板——上下文先行。</a:t>
            </a:r>
            <a:endParaRPr lang="en-US" sz="1600" noProof="1"/>
          </a:p>
        </p:txBody>
      </p:sp>
      <p:sp>
        <p:nvSpPr>
          <p:cNvPr id="8" name="s4"/>
          <p:cNvSpPr txBox="1"/>
          <p:nvPr/>
        </p:nvSpPr>
        <p:spPr>
          <a:xfrm>
            <a:off x="6299200" y="2489200"/>
            <a:ext cx="5181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4　以"人愿意评审"为文档上限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评审体验优先于文档完备；读不完的 markdown 不如不写。</a:t>
            </a:r>
            <a:endParaRPr lang="en-US" sz="1600" noProof="1"/>
          </a:p>
        </p:txBody>
      </p:sp>
      <p:sp>
        <p:nvSpPr>
          <p:cNvPr id="9" name="s5"/>
          <p:cNvSpPr txBox="1"/>
          <p:nvPr/>
        </p:nvSpPr>
        <p:spPr>
          <a:xfrm>
            <a:off x="711200" y="34036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5　保持小步迭代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spec 也小步走、逐段验证；警惕"一次性大设计"带来的虚假控制感。</a:t>
            </a:r>
            <a:endParaRPr lang="en-US" sz="1600" noProof="1"/>
          </a:p>
        </p:txBody>
      </p:sp>
      <p:sp>
        <p:nvSpPr>
          <p:cNvPr id="10" name="s6"/>
          <p:cNvSpPr txBox="1"/>
          <p:nvPr/>
        </p:nvSpPr>
        <p:spPr>
          <a:xfrm>
            <a:off x="6299200" y="3403600"/>
            <a:ext cx="5181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0A2240"/>
                </a:solidFill>
                <a:latin typeface="MiSans"/>
                <a:ea typeface="MiSans"/>
              </a:rPr>
              <a:t>6　向可执行规格演进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434D"/>
                </a:solidFill>
                <a:latin typeface="MiSans"/>
                <a:ea typeface="MiSans"/>
              </a:rPr>
              <a:t>验收标准尽量 EARS / Given-When-Then 化，逐步让 spec 可验证、防漂移。</a:t>
            </a:r>
            <a:endParaRPr lang="en-US" sz="1600" noProof="1"/>
          </a:p>
        </p:txBody>
      </p:sp>
      <p:sp>
        <p:nvSpPr>
          <p:cNvPr id="11" name="mid-line"/>
          <p:cNvSpPr/>
          <p:nvPr/>
        </p:nvSpPr>
        <p:spPr>
          <a:xfrm>
            <a:off x="711200" y="4368800"/>
            <a:ext cx="10769600" cy="12700"/>
          </a:xfrm>
          <a:prstGeom prst="rect">
            <a:avLst/>
          </a:prstGeom>
          <a:solidFill>
            <a:srgbClr val="E4E8EE"/>
          </a:solidFill>
          <a:ln>
            <a:noFill/>
          </a:ln>
        </p:spPr>
      </p:sp>
      <p:sp>
        <p:nvSpPr>
          <p:cNvPr id="12" name="pick-label"/>
          <p:cNvSpPr txBox="1"/>
          <p:nvPr/>
        </p:nvSpPr>
        <p:spPr>
          <a:xfrm>
            <a:off x="711200" y="4546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A2240"/>
                </a:solidFill>
                <a:latin typeface="MiSans"/>
                <a:ea typeface="MiSans"/>
              </a:rPr>
              <a:t>选型速查（按场景）</a:t>
            </a:r>
            <a:endParaRPr lang="en-US" sz="1300" noProof="1"/>
          </a:p>
        </p:txBody>
      </p:sp>
      <p:sp>
        <p:nvSpPr>
          <p:cNvPr id="13" name="pick"/>
          <p:cNvSpPr txBox="1"/>
          <p:nvPr/>
        </p:nvSpPr>
        <p:spPr>
          <a:xfrm>
            <a:off x="711200" y="4851400"/>
            <a:ext cx="10769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绿地原型 / 个人任务 → 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Kiro · cc-sdd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　｜　团队全流程协作 → 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Spec Kit · BMAD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　｜　存量系统演进 → 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OpenSpec</a:t>
            </a:r>
            <a:endParaRPr lang="en-US" sz="1100" noProof="1"/>
          </a:p>
          <a:p>
            <a:pPr>
              <a:lnSpc>
                <a:spcPct val="165000"/>
              </a:lnSpc>
            </a:pP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企业多仓文档治理 → 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Intent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　｜　极简试水 → 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IntentSpec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　｜　规格可执行诉求 → 关注 </a:t>
            </a:r>
            <a:r>
              <a:rPr lang="en-US" sz="1100" noProof="1" b="1">
                <a:solidFill>
                  <a:srgbClr val="3D434D"/>
                </a:solidFill>
                <a:latin typeface="MiSans"/>
                <a:ea typeface="MiSans"/>
              </a:rPr>
              <a:t>Auto</a:t>
            </a:r>
            <a:r>
              <a:rPr lang="en-US" sz="1100" noProof="1">
                <a:solidFill>
                  <a:srgbClr val="3D434D"/>
                </a:solidFill>
                <a:latin typeface="MiSans"/>
                <a:ea typeface="MiSans"/>
              </a:rPr>
              <a:t> 方向</a:t>
            </a:r>
            <a:endParaRPr lang="en-US" sz="1100" noProof="1"/>
          </a:p>
        </p:txBody>
      </p:sp>
      <p:sp>
        <p:nvSpPr>
          <p:cNvPr id="14" name="ref-box"/>
          <p:cNvSpPr/>
          <p:nvPr/>
        </p:nvSpPr>
        <p:spPr>
          <a:xfrm>
            <a:off x="711200" y="5816600"/>
            <a:ext cx="10769600" cy="508000"/>
          </a:xfrm>
          <a:prstGeom prst="rect">
            <a:avLst/>
          </a:prstGeom>
          <a:solidFill>
            <a:srgbClr val="F5F5F6"/>
          </a:solidFill>
          <a:ln>
            <a:noFill/>
          </a:ln>
        </p:spPr>
      </p:sp>
      <p:sp>
        <p:nvSpPr>
          <p:cNvPr id="15" name="ref"/>
          <p:cNvSpPr txBox="1"/>
          <p:nvPr/>
        </p:nvSpPr>
        <p:spPr>
          <a:xfrm>
            <a:off x="914400" y="58166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延伸阅读：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Understanding Spec-Driven-Development: Kiro, spec-kit, and Tessl</a:t>
            </a: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（martinfowler.com，2025-10）　·　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The Spec-Driven Tool Landscape</a:t>
            </a:r>
            <a:r>
              <a:rPr lang="en-US" sz="1000" noProof="1">
                <a:solidFill>
                  <a:srgbClr val="3D434D"/>
                </a:solidFill>
                <a:latin typeface="MiSans"/>
                <a:ea typeface="MiSans"/>
              </a:rPr>
              <a:t>（specdriven.com，社区持续更新）</a:t>
            </a:r>
            <a:endParaRPr lang="en-US" sz="1000" noProof="1"/>
          </a:p>
        </p:txBody>
      </p:sp>
      <p:sp>
        <p:nvSpPr>
          <p:cNvPr id="16" name="footer"/>
          <p:cNvSpPr txBox="1"/>
          <p:nvPr/>
        </p:nvSpPr>
        <p:spPr>
          <a:xfrm>
            <a:off x="482600" y="6578600"/>
            <a:ext cx="1054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33B5E7"/>
                </a:solidFill>
                <a:latin typeface="MiSans"/>
                <a:ea typeface="MiSans"/>
              </a:rPr>
              <a:t>© 2026 Inspire | Confidential</a:t>
            </a: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　本讲内容基于上述两处公开资料整理归纳；工具信息时效性强，选型前请以官方最新文档为准。</a:t>
            </a:r>
            <a:endParaRPr lang="en-US" sz="800" noProof="1"/>
          </a:p>
        </p:txBody>
      </p:sp>
      <p:sp>
        <p:nvSpPr>
          <p:cNvPr id="17" name="page-num"/>
          <p:cNvSpPr txBox="1"/>
          <p:nvPr/>
        </p:nvSpPr>
        <p:spPr>
          <a:xfrm>
            <a:off x="11226800" y="6578600"/>
            <a:ext cx="25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36569"/>
                </a:solidFill>
                <a:latin typeface="MiSans"/>
                <a:ea typeface="MiSans"/>
              </a:rPr>
              <a:t>20</a:t>
            </a:r>
            <a:endParaRPr lang="en-US" sz="800" noProof="1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20</Slides>
</Properties>
</file>

<file path=docProps/core.xml><?xml version="1.0" encoding="utf-8"?>
<cp:coreProperties xmlns:cp="http://schemas.openxmlformats.org/package/2006/metadata/core-properties" xmlns:dc="http://purl.org/dc/elements/1.1/">
  <dc:title>SDD 入门讲解：规格驱动开发</dc:title>
  <dc:subject>SDD 入门讲解：规格驱动开发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{"Label":"SDD 入门讲解：规格驱动开发","ContentProducer":"001191110108MACG2KBH8F10000","ProduceID":"19fb3961-c2b2-8388-8000-0000d73ae7f0","ReservedCode1":"","ContentPropagator":"001191110108MACG2KBH8F20000","PropagateID":"19fb38bf-4f42-8c44-8000-09d4fc6040fa","ReservedCode2":""}</vt:lpwstr>
  </property>
</Properties>
</file>